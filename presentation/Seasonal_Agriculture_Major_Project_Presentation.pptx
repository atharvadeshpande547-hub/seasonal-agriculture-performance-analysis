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6"/>
  </p:notesMasterIdLst>
  <p:handoutMasterIdLst>
    <p:handoutMasterId r:id="rId27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6" r:id="rId13"/>
    <p:sldId id="350" r:id="rId14"/>
    <p:sldId id="351" r:id="rId15"/>
    <p:sldId id="352" r:id="rId16"/>
    <p:sldId id="353" r:id="rId17"/>
    <p:sldId id="354" r:id="rId18"/>
    <p:sldId id="355" r:id="rId19"/>
    <p:sldId id="356" r:id="rId20"/>
    <p:sldId id="357" r:id="rId21"/>
    <p:sldId id="341" r:id="rId22"/>
    <p:sldId id="342" r:id="rId23"/>
    <p:sldId id="343" r:id="rId24"/>
    <p:sldId id="30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95" d="100"/>
          <a:sy n="95" d="100"/>
        </p:scale>
        <p:origin x="110" y="77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9/8/2026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.jf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.jf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.jf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.jf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tharvadeshpande547-hub/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985" y="3570905"/>
            <a:ext cx="5989539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Student Name : Atharva Abhay Deshpande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Name : Sanjivani College of Engineering 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985" y="3016692"/>
            <a:ext cx="9749004" cy="540806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– 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533985" y="4432402"/>
            <a:ext cx="564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 STU6a5e292a5d1bd1784555818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2058142"/>
            <a:ext cx="6431280" cy="360798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  <a:endParaRPr lang="en-IN" sz="2800" dirty="0"/>
          </a:p>
          <a:p>
            <a:pPr marL="0" indent="0">
              <a:buNone/>
            </a:pPr>
            <a:r>
              <a:rPr lang="en-IN" dirty="0"/>
              <a:t>However, raw agricultural data does not clearly explain how agricultural performance changes across seasons or what patterns can be observed in different seasonal conditions. </a:t>
            </a:r>
            <a:endParaRPr lang="en-IN" sz="2800" dirty="0"/>
          </a:p>
          <a:p>
            <a:pPr marL="0" indent="0">
              <a:buNone/>
            </a:pPr>
            <a:r>
              <a:rPr lang="en-IN" dirty="0"/>
              <a:t>The problem is to </a:t>
            </a:r>
            <a:r>
              <a:rPr lang="en-IN" dirty="0" err="1"/>
              <a:t>analyze</a:t>
            </a:r>
            <a:r>
              <a:rPr lang="en-IN" dirty="0"/>
              <a:t> the given agricultural dataset and investigate seasonal differences in agricultural performance by identifying meaningful patterns, trends, relationships and variations within the available data. 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796815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524" y="1984352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30" y="305335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777771-BCB4-03DC-24B8-564A1CFEFFEF}"/>
              </a:ext>
            </a:extLst>
          </p:cNvPr>
          <p:cNvSpPr txBox="1"/>
          <p:nvPr/>
        </p:nvSpPr>
        <p:spPr>
          <a:xfrm>
            <a:off x="139030" y="1102578"/>
            <a:ext cx="9063789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 Description :</a:t>
            </a:r>
          </a:p>
          <a:p>
            <a:pPr lvl="1"/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project </a:t>
            </a:r>
            <a:r>
              <a:rPr lang="en-I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analyzes</a:t>
            </a: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seasonal patterns in agricultural performance using a dataset of 4,000 farm records across 28 attributes, covering farms across multiple states, districts, and crops during the Kharif, Rabi, and Zaid seasons.</a:t>
            </a:r>
          </a:p>
          <a:p>
            <a:pPr lvl="1"/>
            <a:endParaRPr lang="en-I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About the Dataset :</a:t>
            </a:r>
            <a:b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The dataset combines four types of information for each farm record: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Farm &amp; Location Details – Farm ID, State, District, Crop, Season, Farm Area (Hectares)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Environmental Conditions – Rainfall (mm), Average Temperature (°C), Humidity (%), Sunlight Hours/Day, Soil pH, Soil Moisture (%)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Farming Inputs &amp; Practices – Nitrogen, Phosphorus &amp; Potassium (kg/ha), Irrigation Method, Fertilizer (kg/ha), Pesticide (Litre/ha), Seed Quality Score, Water Used (m³)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Production &amp; Economic Outcomes – Yield (Tonnes/ha), Production (Tonnes), Market Price (INR/Tonne), Total Cost, Revenue, Profit (INR), Water Efficiency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the Project Does :</a:t>
            </a:r>
            <a:b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Using this data, the project cleans and prepares the dataset, then studies how 	environmental conditions, resource usage, and economic performance change across 	seasons. Statistical tests (ANOVA, Chi-square) validate whether these seasonal differences 	are significant, while correlation analysis and regional/crop-wise comparisons uncover 	deeper relationships. The result is a set of evidence-based insights and recommendations 	to support smarter, season-specific agricultural planning.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8" y="539733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2932BADA-A634-2818-F558-BCA67C48D2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4383" y="2102019"/>
            <a:ext cx="413434" cy="413445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77408C32-1BEE-F0EB-C221-EF2014FD0672}"/>
              </a:ext>
            </a:extLst>
          </p:cNvPr>
          <p:cNvSpPr/>
          <p:nvPr/>
        </p:nvSpPr>
        <p:spPr>
          <a:xfrm>
            <a:off x="244383" y="2722136"/>
            <a:ext cx="34850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Farmers &amp; Cooperatives</a:t>
            </a:r>
            <a:endParaRPr lang="en-US" sz="16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4C979D4D-4DA8-42A4-A8AB-927B4567BEFC}"/>
              </a:ext>
            </a:extLst>
          </p:cNvPr>
          <p:cNvSpPr/>
          <p:nvPr/>
        </p:nvSpPr>
        <p:spPr>
          <a:xfrm>
            <a:off x="244383" y="3079820"/>
            <a:ext cx="348507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Planning crop selection and resource allocation by season to maximize yield and profitability.</a:t>
            </a:r>
            <a:endParaRPr lang="en-US" sz="1300" dirty="0"/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922D098F-C8E4-6B23-B534-950891E245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6121" y="2102019"/>
            <a:ext cx="413434" cy="413445"/>
          </a:xfrm>
          <a:prstGeom prst="rect">
            <a:avLst/>
          </a:prstGeom>
        </p:spPr>
      </p:pic>
      <p:sp>
        <p:nvSpPr>
          <p:cNvPr id="14" name="Text 6">
            <a:extLst>
              <a:ext uri="{FF2B5EF4-FFF2-40B4-BE49-F238E27FC236}">
                <a16:creationId xmlns:a16="http://schemas.microsoft.com/office/drawing/2014/main" id="{C7C06AD5-8F1B-33B9-E497-BC83AD38D766}"/>
              </a:ext>
            </a:extLst>
          </p:cNvPr>
          <p:cNvSpPr/>
          <p:nvPr/>
        </p:nvSpPr>
        <p:spPr>
          <a:xfrm>
            <a:off x="3936121" y="2722136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State Agricultural Departments</a:t>
            </a:r>
            <a:endParaRPr lang="en-US" sz="16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9AADAB7E-5EE8-49BA-1CA4-A8D2423790B9}"/>
              </a:ext>
            </a:extLst>
          </p:cNvPr>
          <p:cNvSpPr/>
          <p:nvPr/>
        </p:nvSpPr>
        <p:spPr>
          <a:xfrm>
            <a:off x="3936121" y="3079820"/>
            <a:ext cx="348517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Policy makers using seasonal performance data to design targeted agricultural support programs.</a:t>
            </a:r>
            <a:endParaRPr lang="en-US" sz="1300" dirty="0"/>
          </a:p>
        </p:txBody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C03A2B04-7CFA-E002-4DBB-5CC500CDFA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7958" y="2102019"/>
            <a:ext cx="413434" cy="413445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E499ABEB-1457-C2B1-22DF-E58C49B4EBD8}"/>
              </a:ext>
            </a:extLst>
          </p:cNvPr>
          <p:cNvSpPr/>
          <p:nvPr/>
        </p:nvSpPr>
        <p:spPr>
          <a:xfrm>
            <a:off x="7627958" y="2722136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Agri-Fintech &amp; Insurers</a:t>
            </a:r>
            <a:endParaRPr lang="en-US" sz="16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BC5F4677-CC2B-DB06-B825-3BC3D09D3363}"/>
              </a:ext>
            </a:extLst>
          </p:cNvPr>
          <p:cNvSpPr/>
          <p:nvPr/>
        </p:nvSpPr>
        <p:spPr>
          <a:xfrm>
            <a:off x="7627958" y="3079820"/>
            <a:ext cx="348517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Crop insurance companies assessing seasonal risk exposure and pricing coverage accurately.</a:t>
            </a:r>
            <a:endParaRPr lang="en-US" sz="1300" dirty="0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C1D18243-1BB2-962C-FA55-3CA51B9ADE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4383" y="4204365"/>
            <a:ext cx="413434" cy="413445"/>
          </a:xfrm>
          <a:prstGeom prst="rect">
            <a:avLst/>
          </a:prstGeom>
        </p:spPr>
      </p:pic>
      <p:sp>
        <p:nvSpPr>
          <p:cNvPr id="26" name="Text 10">
            <a:extLst>
              <a:ext uri="{FF2B5EF4-FFF2-40B4-BE49-F238E27FC236}">
                <a16:creationId xmlns:a16="http://schemas.microsoft.com/office/drawing/2014/main" id="{632168ED-B8A1-7B56-531C-9BEECE8EEBC2}"/>
              </a:ext>
            </a:extLst>
          </p:cNvPr>
          <p:cNvSpPr/>
          <p:nvPr/>
        </p:nvSpPr>
        <p:spPr>
          <a:xfrm>
            <a:off x="244383" y="4824482"/>
            <a:ext cx="34850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Agronomists &amp; Researchers</a:t>
            </a:r>
            <a:endParaRPr lang="en-US" sz="16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4B2BD290-60F7-EA3D-8B7A-702C6B9DC949}"/>
              </a:ext>
            </a:extLst>
          </p:cNvPr>
          <p:cNvSpPr/>
          <p:nvPr/>
        </p:nvSpPr>
        <p:spPr>
          <a:xfrm>
            <a:off x="244383" y="5182166"/>
            <a:ext cx="348507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Studying seasonal yield patterns to advance agricultural science and best practices.</a:t>
            </a:r>
            <a:endParaRPr lang="en-US" sz="1300" dirty="0"/>
          </a:p>
        </p:txBody>
      </p:sp>
      <p:pic>
        <p:nvPicPr>
          <p:cNvPr id="30" name="Image 4" descr="preencoded.png">
            <a:extLst>
              <a:ext uri="{FF2B5EF4-FFF2-40B4-BE49-F238E27FC236}">
                <a16:creationId xmlns:a16="http://schemas.microsoft.com/office/drawing/2014/main" id="{5BCCE169-5126-0F13-CC3F-6E91B0DC71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36121" y="4204365"/>
            <a:ext cx="413434" cy="413445"/>
          </a:xfrm>
          <a:prstGeom prst="rect">
            <a:avLst/>
          </a:prstGeom>
        </p:spPr>
      </p:pic>
      <p:sp>
        <p:nvSpPr>
          <p:cNvPr id="32" name="Text 12">
            <a:extLst>
              <a:ext uri="{FF2B5EF4-FFF2-40B4-BE49-F238E27FC236}">
                <a16:creationId xmlns:a16="http://schemas.microsoft.com/office/drawing/2014/main" id="{16A634AE-BC37-D66E-4762-60AA676B6F99}"/>
              </a:ext>
            </a:extLst>
          </p:cNvPr>
          <p:cNvSpPr/>
          <p:nvPr/>
        </p:nvSpPr>
        <p:spPr>
          <a:xfrm>
            <a:off x="3936121" y="4824482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Input Suppliers</a:t>
            </a:r>
            <a:endParaRPr lang="en-US" sz="1600" dirty="0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24C394BC-BFBF-5C4C-2984-0D86A4CA9B02}"/>
              </a:ext>
            </a:extLst>
          </p:cNvPr>
          <p:cNvSpPr/>
          <p:nvPr/>
        </p:nvSpPr>
        <p:spPr>
          <a:xfrm>
            <a:off x="3936121" y="5182166"/>
            <a:ext cx="348517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Fertilizer, seed, and irrigation equipment suppliers using seasonal demand forecasting for inventory planning.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688" y="365486"/>
            <a:ext cx="5306291" cy="84781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Technology Used</a:t>
            </a: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98EDDC4-F0DB-EE64-F149-ACEFB776FB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003" y="1830376"/>
            <a:ext cx="372498" cy="390411"/>
          </a:xfrm>
          <a:prstGeom prst="rect">
            <a:avLst/>
          </a:prstGeom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93092416-106F-EB8E-2DD3-9A3F249A753A}"/>
              </a:ext>
            </a:extLst>
          </p:cNvPr>
          <p:cNvSpPr/>
          <p:nvPr/>
        </p:nvSpPr>
        <p:spPr>
          <a:xfrm>
            <a:off x="100003" y="2415946"/>
            <a:ext cx="4803146" cy="256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</a:t>
            </a:r>
            <a:endParaRPr lang="en-US" sz="17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87F794F3-EA41-25B5-2BCE-968EA8A0794B}"/>
              </a:ext>
            </a:extLst>
          </p:cNvPr>
          <p:cNvSpPr/>
          <p:nvPr/>
        </p:nvSpPr>
        <p:spPr>
          <a:xfrm>
            <a:off x="100003" y="2765882"/>
            <a:ext cx="4803146" cy="499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programming language for all data loading, manipulation, analysis, and scripting tasks throughout the project.</a:t>
            </a:r>
            <a:endParaRPr lang="en-US" sz="130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E161A3C7-B751-DFB2-F93F-F63D07F7DD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9354" y="1830376"/>
            <a:ext cx="372498" cy="390411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0D37DF22-9460-1911-2AAB-3AC8FC44DFE0}"/>
              </a:ext>
            </a:extLst>
          </p:cNvPr>
          <p:cNvSpPr/>
          <p:nvPr/>
        </p:nvSpPr>
        <p:spPr>
          <a:xfrm>
            <a:off x="5089354" y="2415946"/>
            <a:ext cx="4803236" cy="256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Pandas &amp; NumPy</a:t>
            </a:r>
            <a:endParaRPr lang="en-US" sz="17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E8566F9D-874E-9A15-42F5-834C605A33D2}"/>
              </a:ext>
            </a:extLst>
          </p:cNvPr>
          <p:cNvSpPr/>
          <p:nvPr/>
        </p:nvSpPr>
        <p:spPr>
          <a:xfrm>
            <a:off x="5089354" y="2765882"/>
            <a:ext cx="4803236" cy="499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Pandas for dataset loading, cleaning, grouping, and aggregation. NumPy for efficient numerical operations and array computations.</a:t>
            </a:r>
            <a:endParaRPr lang="en-US" sz="1300" dirty="0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7A4EA6AA-5E79-0D10-56FE-AE67DA9DFB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003" y="3642071"/>
            <a:ext cx="372498" cy="390411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93F9018C-AED6-F995-1C02-8ABD72A0C160}"/>
              </a:ext>
            </a:extLst>
          </p:cNvPr>
          <p:cNvSpPr/>
          <p:nvPr/>
        </p:nvSpPr>
        <p:spPr>
          <a:xfrm>
            <a:off x="100003" y="4227641"/>
            <a:ext cx="4803146" cy="256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Matplotlib &amp; Seaborn</a:t>
            </a:r>
            <a:endParaRPr lang="en-US" sz="17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50A47807-AD7A-D4E8-02B9-EDDA960FB276}"/>
              </a:ext>
            </a:extLst>
          </p:cNvPr>
          <p:cNvSpPr/>
          <p:nvPr/>
        </p:nvSpPr>
        <p:spPr>
          <a:xfrm>
            <a:off x="100003" y="4577577"/>
            <a:ext cx="4803146" cy="499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Matplotlib for scatter plots and boxplots; Seaborn for higher-level EDA visualizations and exploratory statistical graphics.</a:t>
            </a:r>
            <a:endParaRPr lang="en-US" sz="1300" dirty="0"/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38B1C138-97F9-330C-C646-74EBC3566C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89354" y="3642071"/>
            <a:ext cx="372498" cy="390411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3AAA8BF4-3658-296E-3BFA-D24CC6158153}"/>
              </a:ext>
            </a:extLst>
          </p:cNvPr>
          <p:cNvSpPr/>
          <p:nvPr/>
        </p:nvSpPr>
        <p:spPr>
          <a:xfrm>
            <a:off x="5089354" y="4227641"/>
            <a:ext cx="4803236" cy="256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Jupyter / Google Colab</a:t>
            </a:r>
            <a:endParaRPr lang="en-US" sz="17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D2214DDB-AECE-BE60-75B3-4A6F155E202D}"/>
              </a:ext>
            </a:extLst>
          </p:cNvPr>
          <p:cNvSpPr/>
          <p:nvPr/>
        </p:nvSpPr>
        <p:spPr>
          <a:xfrm>
            <a:off x="5089354" y="4577577"/>
            <a:ext cx="4803236" cy="499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notebook environment for writing, executing, and documenting the analysis in a reproducible, step-by-step format.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 animBg="1"/>
      <p:bldP spid="5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EF87E5-FCA3-ED1A-D63F-7F95DC71D8FB}"/>
              </a:ext>
            </a:extLst>
          </p:cNvPr>
          <p:cNvSpPr txBox="1"/>
          <p:nvPr/>
        </p:nvSpPr>
        <p:spPr>
          <a:xfrm>
            <a:off x="676656" y="128016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46B"/>
                </a:solidFill>
                <a:latin typeface="Trebuchet MS"/>
              </a:rPr>
              <a:t>PROJECT BRIEF · EXPLORE, UNDERSTAND AND PREPARE THE DATA</a:t>
            </a:r>
          </a:p>
        </p:txBody>
      </p:sp>
      <p:pic>
        <p:nvPicPr>
          <p:cNvPr id="9" name="Picture 8" descr="cell027_img2.png">
            <a:extLst>
              <a:ext uri="{FF2B5EF4-FFF2-40B4-BE49-F238E27FC236}">
                <a16:creationId xmlns:a16="http://schemas.microsoft.com/office/drawing/2014/main" id="{EB9BA821-4ACE-19A0-EC33-76680954E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263640" cy="2209635"/>
          </a:xfrm>
          <a:prstGeom prst="rect">
            <a:avLst/>
          </a:prstGeom>
        </p:spPr>
      </p:pic>
      <p:pic>
        <p:nvPicPr>
          <p:cNvPr id="11" name="Picture 10" descr="cell028_img3.png">
            <a:extLst>
              <a:ext uri="{FF2B5EF4-FFF2-40B4-BE49-F238E27FC236}">
                <a16:creationId xmlns:a16="http://schemas.microsoft.com/office/drawing/2014/main" id="{6550CBFC-A11C-AF24-2E3C-FA6364B2A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33087"/>
            <a:ext cx="6263640" cy="22080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AB9CB94-FD5A-FBFF-096F-7E6A4F832D04}"/>
              </a:ext>
            </a:extLst>
          </p:cNvPr>
          <p:cNvSpPr txBox="1"/>
          <p:nvPr/>
        </p:nvSpPr>
        <p:spPr>
          <a:xfrm>
            <a:off x="7178040" y="1783080"/>
            <a:ext cx="44805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2E946B"/>
                </a:solidFill>
                <a:latin typeface="Trebuchet MS"/>
              </a:rPr>
              <a:t>4,000 × 28   </a:t>
            </a:r>
            <a:r>
              <a:rPr sz="1350">
                <a:solidFill>
                  <a:srgbClr val="2C3C43"/>
                </a:solidFill>
                <a:latin typeface="Trebuchet MS"/>
              </a:rPr>
              <a:t>farm records × attributes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2E946B"/>
                </a:solidFill>
                <a:latin typeface="Trebuchet MS"/>
              </a:rPr>
              <a:t>3 · 8 · 8   </a:t>
            </a:r>
            <a:r>
              <a:rPr sz="1350">
                <a:solidFill>
                  <a:srgbClr val="2C3C43"/>
                </a:solidFill>
                <a:latin typeface="Trebuchet MS"/>
              </a:rPr>
              <a:t>seasons · crops · states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2E946B"/>
                </a:solidFill>
                <a:latin typeface="Trebuchet MS"/>
              </a:rPr>
              <a:t>4   </a:t>
            </a:r>
            <a:r>
              <a:rPr sz="1350">
                <a:solidFill>
                  <a:srgbClr val="2C3C43"/>
                </a:solidFill>
                <a:latin typeface="Trebuchet MS"/>
              </a:rPr>
              <a:t>irrigation methods (Drip, Flood, Rainfed, Sprinkler)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2E946B"/>
                </a:solidFill>
                <a:latin typeface="Trebuchet MS"/>
              </a:rPr>
              <a:t>~1%   </a:t>
            </a:r>
            <a:r>
              <a:rPr sz="1350">
                <a:solidFill>
                  <a:srgbClr val="2C3C43"/>
                </a:solidFill>
                <a:latin typeface="Trebuchet MS"/>
              </a:rPr>
              <a:t>missing values — imputed with season-wise medians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2E946B"/>
                </a:solidFill>
                <a:latin typeface="Trebuchet MS"/>
              </a:rPr>
              <a:t>6–10%   </a:t>
            </a:r>
            <a:r>
              <a:rPr sz="1350">
                <a:solidFill>
                  <a:srgbClr val="2C3C43"/>
                </a:solidFill>
                <a:latin typeface="Trebuchet MS"/>
              </a:rPr>
              <a:t>outliers in economic columns — capped at 1st/99th percentile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2E946B"/>
                </a:solidFill>
                <a:latin typeface="Trebuchet MS"/>
              </a:rPr>
              <a:t>0   </a:t>
            </a:r>
            <a:r>
              <a:rPr sz="1350">
                <a:solidFill>
                  <a:srgbClr val="2C3C43"/>
                </a:solidFill>
                <a:latin typeface="Trebuchet MS"/>
              </a:rPr>
              <a:t>duplicate rows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EBFFC14-FB07-8D10-68A5-20CDBFA3E5B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5DD5AD-689E-B04C-50C2-8F3389C37407}"/>
              </a:ext>
            </a:extLst>
          </p:cNvPr>
          <p:cNvSpPr txBox="1"/>
          <p:nvPr/>
        </p:nvSpPr>
        <p:spPr>
          <a:xfrm>
            <a:off x="676656" y="128016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46B"/>
                </a:solidFill>
                <a:latin typeface="Trebuchet MS"/>
              </a:rPr>
              <a:t>KEY QUESTION 1 · HOW DOES AGRICULTURAL PERFORMANCE VARY ACROSS SEASONS?</a:t>
            </a:r>
          </a:p>
        </p:txBody>
      </p:sp>
      <p:pic>
        <p:nvPicPr>
          <p:cNvPr id="12" name="Picture 11" descr="cell031_img4.png">
            <a:extLst>
              <a:ext uri="{FF2B5EF4-FFF2-40B4-BE49-F238E27FC236}">
                <a16:creationId xmlns:a16="http://schemas.microsoft.com/office/drawing/2014/main" id="{99099373-20BD-3D44-A483-18357573A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783080"/>
            <a:ext cx="9052560" cy="2474400"/>
          </a:xfrm>
          <a:prstGeom prst="rect">
            <a:avLst/>
          </a:prstGeom>
        </p:spPr>
      </p:pic>
      <p:sp>
        <p:nvSpPr>
          <p:cNvPr id="14" name="Rounded Rectangle 32">
            <a:extLst>
              <a:ext uri="{FF2B5EF4-FFF2-40B4-BE49-F238E27FC236}">
                <a16:creationId xmlns:a16="http://schemas.microsoft.com/office/drawing/2014/main" id="{A99DBC51-8CC9-4816-5093-0600133F8E00}"/>
              </a:ext>
            </a:extLst>
          </p:cNvPr>
          <p:cNvSpPr/>
          <p:nvPr/>
        </p:nvSpPr>
        <p:spPr>
          <a:xfrm>
            <a:off x="548640" y="4434840"/>
            <a:ext cx="3566160" cy="1737360"/>
          </a:xfrm>
          <a:prstGeom prst="roundRect">
            <a:avLst>
              <a:gd name="adj" fmla="val 5500"/>
            </a:avLst>
          </a:prstGeom>
          <a:solidFill>
            <a:srgbClr val="E9F4EE"/>
          </a:solidFill>
          <a:ln w="9525">
            <a:solidFill>
              <a:srgbClr val="2E9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946B"/>
                </a:solidFill>
                <a:latin typeface="Trebuchet MS"/>
              </a:rPr>
              <a:t>KHARIF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C3C43"/>
                </a:solidFill>
                <a:latin typeface="Trebuchet MS"/>
              </a:rPr>
              <a:t>Yield 5.50 t/ha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C3C43"/>
                </a:solidFill>
                <a:latin typeface="Trebuchet MS"/>
              </a:rPr>
              <a:t>Profit ₹1.70 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C3C43"/>
                </a:solidFill>
                <a:latin typeface="Trebuchet MS"/>
              </a:rPr>
              <a:t>ROI 34.4%</a:t>
            </a:r>
          </a:p>
        </p:txBody>
      </p:sp>
      <p:sp>
        <p:nvSpPr>
          <p:cNvPr id="16" name="Rounded Rectangle 33">
            <a:extLst>
              <a:ext uri="{FF2B5EF4-FFF2-40B4-BE49-F238E27FC236}">
                <a16:creationId xmlns:a16="http://schemas.microsoft.com/office/drawing/2014/main" id="{8356C0F4-E9C8-E1CD-EFE9-21DC4C5FEBA8}"/>
              </a:ext>
            </a:extLst>
          </p:cNvPr>
          <p:cNvSpPr/>
          <p:nvPr/>
        </p:nvSpPr>
        <p:spPr>
          <a:xfrm>
            <a:off x="4306824" y="4434840"/>
            <a:ext cx="3566160" cy="1737360"/>
          </a:xfrm>
          <a:prstGeom prst="roundRect">
            <a:avLst>
              <a:gd name="adj" fmla="val 5500"/>
            </a:avLst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946B"/>
                </a:solidFill>
                <a:latin typeface="Trebuchet MS"/>
              </a:rPr>
              <a:t>RABI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C3C43"/>
                </a:solidFill>
                <a:latin typeface="Trebuchet MS"/>
              </a:rPr>
              <a:t>Yield 4.98 t/ha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C3C43"/>
                </a:solidFill>
                <a:latin typeface="Trebuchet MS"/>
              </a:rPr>
              <a:t>Profit ₹0.86 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C3C43"/>
                </a:solidFill>
                <a:latin typeface="Trebuchet MS"/>
              </a:rPr>
              <a:t>ROI 17.4%</a:t>
            </a:r>
          </a:p>
        </p:txBody>
      </p:sp>
      <p:sp>
        <p:nvSpPr>
          <p:cNvPr id="18" name="Rounded Rectangle 34">
            <a:extLst>
              <a:ext uri="{FF2B5EF4-FFF2-40B4-BE49-F238E27FC236}">
                <a16:creationId xmlns:a16="http://schemas.microsoft.com/office/drawing/2014/main" id="{C76B03B6-C320-C750-DF27-BF4312835228}"/>
              </a:ext>
            </a:extLst>
          </p:cNvPr>
          <p:cNvSpPr/>
          <p:nvPr/>
        </p:nvSpPr>
        <p:spPr>
          <a:xfrm>
            <a:off x="8065008" y="4434840"/>
            <a:ext cx="3566160" cy="1737360"/>
          </a:xfrm>
          <a:prstGeom prst="roundRect">
            <a:avLst>
              <a:gd name="adj" fmla="val 5500"/>
            </a:avLst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946B"/>
                </a:solidFill>
                <a:latin typeface="Trebuchet MS"/>
              </a:rPr>
              <a:t>ZAID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C3C43"/>
                </a:solidFill>
                <a:latin typeface="Trebuchet MS"/>
              </a:rPr>
              <a:t>Yield 4.64 t/ha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B3402F"/>
                </a:solidFill>
                <a:latin typeface="Trebuchet MS"/>
              </a:rPr>
              <a:t>Profit −₹0.23 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3402F"/>
                </a:solidFill>
                <a:latin typeface="Trebuchet MS"/>
              </a:rPr>
              <a:t>ROI −2.3%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8DEDFD2-07C4-680C-176E-D10797B6B6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5B65E0-B90F-227D-E768-9C55EACAFCDC}"/>
              </a:ext>
            </a:extLst>
          </p:cNvPr>
          <p:cNvSpPr txBox="1"/>
          <p:nvPr/>
        </p:nvSpPr>
        <p:spPr>
          <a:xfrm>
            <a:off x="676656" y="128016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46B"/>
                </a:solidFill>
                <a:latin typeface="Trebuchet MS"/>
              </a:rPr>
              <a:t>KEY QUESTIONS 2–3 · WHAT MAJOR PATTERNS APPEAR, WHICH CHARACTERISTICS CHANGE?</a:t>
            </a:r>
          </a:p>
        </p:txBody>
      </p:sp>
      <p:pic>
        <p:nvPicPr>
          <p:cNvPr id="12" name="Picture 11" descr="cell034_img6.png">
            <a:extLst>
              <a:ext uri="{FF2B5EF4-FFF2-40B4-BE49-F238E27FC236}">
                <a16:creationId xmlns:a16="http://schemas.microsoft.com/office/drawing/2014/main" id="{DD39AF2E-3615-8085-F6C3-0ADA796DE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232990" cy="4434840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587034D-E65F-8A55-D6FA-4531FCE7243B}"/>
              </a:ext>
            </a:extLst>
          </p:cNvPr>
          <p:cNvGraphicFramePr>
            <a:graphicFrameLocks noGrp="1"/>
          </p:cNvGraphicFramePr>
          <p:nvPr/>
        </p:nvGraphicFramePr>
        <p:xfrm>
          <a:off x="7086600" y="1783080"/>
          <a:ext cx="4526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rebuchet MS"/>
                        </a:rPr>
                        <a:t>Metric</a:t>
                      </a:r>
                    </a:p>
                  </a:txBody>
                  <a:tcPr marT="38100" marB="38100" anchor="ctr">
                    <a:solidFill>
                      <a:srgbClr val="2E94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rebuchet MS"/>
                        </a:rPr>
                        <a:t>Kharif</a:t>
                      </a:r>
                    </a:p>
                  </a:txBody>
                  <a:tcPr marT="38100" marB="38100" anchor="ctr">
                    <a:solidFill>
                      <a:srgbClr val="2E94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rebuchet MS"/>
                        </a:rPr>
                        <a:t>Rabi</a:t>
                      </a:r>
                    </a:p>
                  </a:txBody>
                  <a:tcPr marT="38100" marB="38100" anchor="ctr">
                    <a:solidFill>
                      <a:srgbClr val="2E94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rebuchet MS"/>
                        </a:rPr>
                        <a:t>Zaid</a:t>
                      </a:r>
                    </a:p>
                  </a:txBody>
                  <a:tcPr marT="38100" marB="38100" anchor="ctr">
                    <a:solidFill>
                      <a:srgbClr val="2E94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C3C43"/>
                          </a:solidFill>
                          <a:latin typeface="Trebuchet MS"/>
                        </a:rPr>
                        <a:t>Rainfall (mm)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C43"/>
                          </a:solidFill>
                          <a:latin typeface="Trebuchet MS"/>
                        </a:rPr>
                        <a:t>852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C43"/>
                          </a:solidFill>
                          <a:latin typeface="Trebuchet MS"/>
                        </a:rPr>
                        <a:t>436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C43"/>
                          </a:solidFill>
                          <a:latin typeface="Trebuchet MS"/>
                        </a:rPr>
                        <a:t>299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C3C43"/>
                          </a:solidFill>
                          <a:latin typeface="Trebuchet MS"/>
                        </a:rPr>
                        <a:t>Temp (°C)</a:t>
                      </a:r>
                    </a:p>
                  </a:txBody>
                  <a:tcPr marT="38100" marB="38100" anchor="ctr">
                    <a:solidFill>
                      <a:srgbClr val="E9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C43"/>
                          </a:solidFill>
                          <a:latin typeface="Trebuchet MS"/>
                        </a:rPr>
                        <a:t>28.5</a:t>
                      </a:r>
                    </a:p>
                  </a:txBody>
                  <a:tcPr marT="38100" marB="38100" anchor="ctr">
                    <a:solidFill>
                      <a:srgbClr val="E9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C43"/>
                          </a:solidFill>
                          <a:latin typeface="Trebuchet MS"/>
                        </a:rPr>
                        <a:t>23.5</a:t>
                      </a:r>
                    </a:p>
                  </a:txBody>
                  <a:tcPr marT="38100" marB="38100" anchor="ctr">
                    <a:solidFill>
                      <a:srgbClr val="E9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C43"/>
                          </a:solidFill>
                          <a:latin typeface="Trebuchet MS"/>
                        </a:rPr>
                        <a:t>31.0</a:t>
                      </a:r>
                    </a:p>
                  </a:txBody>
                  <a:tcPr marT="38100" marB="38100" anchor="ctr">
                    <a:solidFill>
                      <a:srgbClr val="E9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C3C43"/>
                          </a:solidFill>
                          <a:latin typeface="Trebuchet MS"/>
                        </a:rPr>
                        <a:t>Humidity (%)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C43"/>
                          </a:solidFill>
                          <a:latin typeface="Trebuchet MS"/>
                        </a:rPr>
                        <a:t>71.8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C43"/>
                          </a:solidFill>
                          <a:latin typeface="Trebuchet MS"/>
                        </a:rPr>
                        <a:t>57.9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C43"/>
                          </a:solidFill>
                          <a:latin typeface="Trebuchet MS"/>
                        </a:rPr>
                        <a:t>52.0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C3C43"/>
                          </a:solidFill>
                          <a:latin typeface="Trebuchet MS"/>
                        </a:rPr>
                        <a:t>Soil moisture (%)</a:t>
                      </a:r>
                    </a:p>
                  </a:txBody>
                  <a:tcPr marT="38100" marB="38100" anchor="ctr">
                    <a:solidFill>
                      <a:srgbClr val="E9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C43"/>
                          </a:solidFill>
                          <a:latin typeface="Trebuchet MS"/>
                        </a:rPr>
                        <a:t>31.2</a:t>
                      </a:r>
                    </a:p>
                  </a:txBody>
                  <a:tcPr marT="38100" marB="38100" anchor="ctr">
                    <a:solidFill>
                      <a:srgbClr val="E9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C43"/>
                          </a:solidFill>
                          <a:latin typeface="Trebuchet MS"/>
                        </a:rPr>
                        <a:t>24.1</a:t>
                      </a:r>
                    </a:p>
                  </a:txBody>
                  <a:tcPr marT="38100" marB="38100" anchor="ctr">
                    <a:solidFill>
                      <a:srgbClr val="E9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C43"/>
                          </a:solidFill>
                          <a:latin typeface="Trebuchet MS"/>
                        </a:rPr>
                        <a:t>19.2</a:t>
                      </a:r>
                    </a:p>
                  </a:txBody>
                  <a:tcPr marT="38100" marB="38100" anchor="ctr">
                    <a:solidFill>
                      <a:srgbClr val="E9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811D347-9B6B-2628-3C27-45FD03F52167}"/>
              </a:ext>
            </a:extLst>
          </p:cNvPr>
          <p:cNvSpPr txBox="1"/>
          <p:nvPr/>
        </p:nvSpPr>
        <p:spPr>
          <a:xfrm>
            <a:off x="7086600" y="4434840"/>
            <a:ext cx="45262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50">
                <a:solidFill>
                  <a:srgbClr val="2C3C43"/>
                </a:solidFill>
                <a:latin typeface="Trebuchet MS"/>
              </a:rPr>
              <a:t>Kharif = monsoon: wettest, most humid.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2C3C43"/>
                </a:solidFill>
                <a:latin typeface="Trebuchet MS"/>
              </a:rPr>
              <a:t>Rabi = cool, dry winter window.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2C3C43"/>
                </a:solidFill>
                <a:latin typeface="Trebuchet MS"/>
              </a:rPr>
              <a:t>Zaid = hot, dry summer — harshest.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5CF66C-DBC3-AF15-9826-1650A6127EDC}"/>
              </a:ext>
            </a:extLst>
          </p:cNvPr>
          <p:cNvSpPr txBox="1"/>
          <p:nvPr/>
        </p:nvSpPr>
        <p:spPr>
          <a:xfrm>
            <a:off x="516236" y="128016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46B"/>
                </a:solidFill>
                <a:latin typeface="Trebuchet MS"/>
              </a:rPr>
              <a:t>KEY QUESTIONS 4–5 · DO ACTIVITIES AND RESOURCE USAGE VARY ACROSS SEASONS?</a:t>
            </a:r>
          </a:p>
        </p:txBody>
      </p:sp>
      <p:pic>
        <p:nvPicPr>
          <p:cNvPr id="12" name="Picture 11" descr="cell038_img7.png">
            <a:extLst>
              <a:ext uri="{FF2B5EF4-FFF2-40B4-BE49-F238E27FC236}">
                <a16:creationId xmlns:a16="http://schemas.microsoft.com/office/drawing/2014/main" id="{476EDD22-15AB-6A26-9FDC-4DAE49C08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20" y="1783080"/>
            <a:ext cx="6081070" cy="3017520"/>
          </a:xfrm>
          <a:prstGeom prst="rect">
            <a:avLst/>
          </a:prstGeom>
        </p:spPr>
      </p:pic>
      <p:pic>
        <p:nvPicPr>
          <p:cNvPr id="14" name="Picture 13" descr="cell039_img8.png">
            <a:extLst>
              <a:ext uri="{FF2B5EF4-FFF2-40B4-BE49-F238E27FC236}">
                <a16:creationId xmlns:a16="http://schemas.microsoft.com/office/drawing/2014/main" id="{D8304AC9-1DB7-DBCB-EF62-E60187C6B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580" y="1783080"/>
            <a:ext cx="5284500" cy="29260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265B0CD-359C-0F60-A7AF-44B2450B2E3A}"/>
              </a:ext>
            </a:extLst>
          </p:cNvPr>
          <p:cNvSpPr txBox="1"/>
          <p:nvPr/>
        </p:nvSpPr>
        <p:spPr>
          <a:xfrm>
            <a:off x="388220" y="5074920"/>
            <a:ext cx="111099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2E946B"/>
                </a:solidFill>
                <a:latin typeface="Trebuchet MS"/>
              </a:rPr>
              <a:t>Inputs are flat:  </a:t>
            </a:r>
            <a:r>
              <a:rPr sz="1450">
                <a:solidFill>
                  <a:srgbClr val="2C3C43"/>
                </a:solidFill>
                <a:latin typeface="Trebuchet MS"/>
              </a:rPr>
              <a:t>fertilizer (184.6–187.1 kg/ha), pesticide and NPK use barely change across seasons — inputs don't explain the performance gap.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2E946B"/>
                </a:solidFill>
                <a:latin typeface="Trebuchet MS"/>
              </a:rPr>
              <a:t>Water is the outlier:  </a:t>
            </a:r>
            <a:r>
              <a:rPr sz="1450">
                <a:solidFill>
                  <a:srgbClr val="2C3C43"/>
                </a:solidFill>
                <a:latin typeface="Trebuchet MS"/>
              </a:rPr>
              <a:t>Zaid draws the most water (6,420 m³) yet has the lowest efficiency (4.41 t/1,000 m³); Kharif is most efficient (5.89).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5BB4238-8C58-EDF9-7699-976F1E2BFD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676656" y="128016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46B"/>
                </a:solidFill>
                <a:latin typeface="Trebuchet MS"/>
              </a:rPr>
              <a:t>KEY QUESTION 6 · HOW DO ECONOMIC OUTCOMES VARY ACROSS SEASONS?</a:t>
            </a:r>
          </a:p>
        </p:txBody>
      </p:sp>
      <p:pic>
        <p:nvPicPr>
          <p:cNvPr id="32" name="Picture 31" descr="cell041_im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315200" cy="257874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8183879" y="1783080"/>
            <a:ext cx="3456432" cy="1161288"/>
          </a:xfrm>
          <a:prstGeom prst="roundRect">
            <a:avLst>
              <a:gd name="adj" fmla="val 5500"/>
            </a:avLst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2E946B"/>
                </a:solidFill>
                <a:latin typeface="Trebuchet MS"/>
              </a:rPr>
              <a:t>57.8%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B74"/>
                </a:solidFill>
                <a:latin typeface="Trebuchet MS"/>
              </a:rPr>
              <a:t>Kharif farms profitable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79" y="3081528"/>
            <a:ext cx="3456432" cy="1161288"/>
          </a:xfrm>
          <a:prstGeom prst="roundRect">
            <a:avLst>
              <a:gd name="adj" fmla="val 5500"/>
            </a:avLst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2C3C43"/>
                </a:solidFill>
                <a:latin typeface="Trebuchet MS"/>
              </a:rPr>
              <a:t>48.9%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B74"/>
                </a:solidFill>
                <a:latin typeface="Trebuchet MS"/>
              </a:rPr>
              <a:t>Rabi farms profitable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79" y="4379976"/>
            <a:ext cx="3456432" cy="1161288"/>
          </a:xfrm>
          <a:prstGeom prst="roundRect">
            <a:avLst>
              <a:gd name="adj" fmla="val 5500"/>
            </a:avLst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B3402F"/>
                </a:solidFill>
                <a:latin typeface="Trebuchet MS"/>
              </a:rPr>
              <a:t>35.5%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B74"/>
                </a:solidFill>
                <a:latin typeface="Trebuchet MS"/>
              </a:rPr>
              <a:t>Zaid farms profitable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892040"/>
            <a:ext cx="73609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2E946B"/>
                </a:solidFill>
                <a:latin typeface="Trebuchet MS"/>
              </a:rPr>
              <a:t>22-point profitability gap:  </a:t>
            </a:r>
            <a:r>
              <a:rPr sz="1450">
                <a:solidFill>
                  <a:srgbClr val="2C3C43"/>
                </a:solidFill>
                <a:latin typeface="Trebuchet MS"/>
              </a:rPr>
              <a:t>57.8% of Kharif farms make money versus only 35.5% in Zaid.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2E946B"/>
                </a:solidFill>
                <a:latin typeface="Trebuchet MS"/>
              </a:rPr>
              <a:t>Average profit falls ₹1.93 L  </a:t>
            </a:r>
            <a:r>
              <a:rPr sz="1450">
                <a:solidFill>
                  <a:srgbClr val="2C3C43"/>
                </a:solidFill>
                <a:latin typeface="Trebuchet MS"/>
              </a:rPr>
              <a:t>from +₹1.70 L (Kharif) to −₹0.23 L (Zaid) — Rabi sits between at ₹0.86 L.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271E4995-3696-8C1B-1CFC-2BE3121E01F3}"/>
              </a:ext>
            </a:extLst>
          </p:cNvPr>
          <p:cNvSpPr txBox="1">
            <a:spLocks/>
          </p:cNvSpPr>
          <p:nvPr/>
        </p:nvSpPr>
        <p:spPr>
          <a:xfrm>
            <a:off x="675957" y="370589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/>
              <a:t>RESULTS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29BA11-E46B-8454-2F9E-95F5EDDFDD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15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76656" y="128016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46B"/>
                </a:solidFill>
                <a:latin typeface="Trebuchet MS"/>
              </a:rPr>
              <a:t>KEY QUESTION 7 · ARE ENVIRONMENTAL CONDITIONS RELATED TO PERFORMANCE?</a:t>
            </a:r>
          </a:p>
        </p:txBody>
      </p:sp>
      <p:pic>
        <p:nvPicPr>
          <p:cNvPr id="7" name="Picture 6" descr="cell043_img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78989"/>
            <a:ext cx="6234545" cy="47846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59867" y="2377440"/>
            <a:ext cx="473659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50" b="1" dirty="0">
                <a:solidFill>
                  <a:srgbClr val="2E946B"/>
                </a:solidFill>
                <a:latin typeface="Trebuchet MS"/>
              </a:rPr>
              <a:t>Correlations are weak  </a:t>
            </a:r>
            <a:r>
              <a:rPr sz="1450" dirty="0">
                <a:solidFill>
                  <a:srgbClr val="2C3C43"/>
                </a:solidFill>
                <a:latin typeface="Trebuchet MS"/>
              </a:rPr>
              <a:t>(mostly |r| &lt; 0.3) — no single environmental or input variable dominates yield or profit.</a:t>
            </a:r>
          </a:p>
          <a:p>
            <a:pPr>
              <a:spcAft>
                <a:spcPts val="1200"/>
              </a:spcAft>
            </a:pPr>
            <a:r>
              <a:rPr sz="1450" b="1" dirty="0">
                <a:solidFill>
                  <a:srgbClr val="2E946B"/>
                </a:solidFill>
                <a:latin typeface="Trebuchet MS"/>
              </a:rPr>
              <a:t>Scale clusters together:  </a:t>
            </a:r>
            <a:r>
              <a:rPr sz="1450" dirty="0">
                <a:solidFill>
                  <a:srgbClr val="2C3C43"/>
                </a:solidFill>
                <a:latin typeface="Trebuchet MS"/>
              </a:rPr>
              <a:t>farm area, production and water use correlate with each other, as expected.</a:t>
            </a:r>
          </a:p>
          <a:p>
            <a:pPr>
              <a:spcAft>
                <a:spcPts val="1200"/>
              </a:spcAft>
            </a:pPr>
            <a:r>
              <a:rPr sz="1450" b="1" dirty="0">
                <a:solidFill>
                  <a:srgbClr val="2E946B"/>
                </a:solidFill>
                <a:latin typeface="Trebuchet MS"/>
              </a:rPr>
              <a:t>Season acts through groups,  </a:t>
            </a:r>
            <a:r>
              <a:rPr sz="1450" dirty="0">
                <a:solidFill>
                  <a:srgbClr val="2C3C43"/>
                </a:solidFill>
                <a:latin typeface="Trebuchet MS"/>
              </a:rPr>
              <a:t>not through one linear driver — performance is multivariate.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993DFF3-5629-0AB6-9114-600DC1C2B392}"/>
              </a:ext>
            </a:extLst>
          </p:cNvPr>
          <p:cNvSpPr txBox="1">
            <a:spLocks/>
          </p:cNvSpPr>
          <p:nvPr/>
        </p:nvSpPr>
        <p:spPr>
          <a:xfrm>
            <a:off x="675957" y="370589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/>
              <a:t>RESULTS 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4BE66BD-8941-679C-BC9B-8425917C26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76656" y="128016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46B"/>
                </a:solidFill>
                <a:latin typeface="Trebuchet MS"/>
              </a:rPr>
              <a:t>KEY QUESTION 7 (CONTINUED) · RELATIONSHIPS IN DETAIL</a:t>
            </a:r>
          </a:p>
        </p:txBody>
      </p:sp>
      <p:pic>
        <p:nvPicPr>
          <p:cNvPr id="7" name="Picture 6" descr="cell044_img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7315200" cy="2578740"/>
          </a:xfrm>
          <a:prstGeom prst="rect">
            <a:avLst/>
          </a:prstGeom>
        </p:spPr>
      </p:pic>
      <p:pic>
        <p:nvPicPr>
          <p:cNvPr id="8" name="Picture 7" descr="cell045_img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993392"/>
            <a:ext cx="4048963" cy="22494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709160"/>
            <a:ext cx="111099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>
                <a:solidFill>
                  <a:srgbClr val="2E946B"/>
                </a:solidFill>
                <a:latin typeface="Trebuchet MS"/>
              </a:rPr>
              <a:t>Rainfall → yield:  </a:t>
            </a:r>
            <a:r>
              <a:rPr sz="1450">
                <a:solidFill>
                  <a:srgbClr val="2C3C43"/>
                </a:solidFill>
                <a:latin typeface="Trebuchet MS"/>
              </a:rPr>
              <a:t>wide clouds, no trend within any season — more rain alone doesn't raise yield.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2E946B"/>
                </a:solidFill>
                <a:latin typeface="Trebuchet MS"/>
              </a:rPr>
              <a:t>Fertilizer → yield:  </a:t>
            </a:r>
            <a:r>
              <a:rPr sz="1450">
                <a:solidFill>
                  <a:srgbClr val="2C3C43"/>
                </a:solidFill>
                <a:latin typeface="Trebuchet MS"/>
              </a:rPr>
              <a:t>flat relationship — input level is not a proxy for productivity.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2E946B"/>
                </a:solidFill>
                <a:latin typeface="Trebuchet MS"/>
              </a:rPr>
              <a:t>Disease risk → yield:  </a:t>
            </a:r>
            <a:r>
              <a:rPr sz="1450">
                <a:solidFill>
                  <a:srgbClr val="2C3C43"/>
                </a:solidFill>
                <a:latin typeface="Trebuchet MS"/>
              </a:rPr>
              <a:t>no clear gradient at field level, despite Kharif's higher average risk.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19BFC85D-BECC-8AFF-30C6-B74E67ECD099}"/>
              </a:ext>
            </a:extLst>
          </p:cNvPr>
          <p:cNvSpPr txBox="1">
            <a:spLocks/>
          </p:cNvSpPr>
          <p:nvPr/>
        </p:nvSpPr>
        <p:spPr>
          <a:xfrm>
            <a:off x="675957" y="370589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/>
              <a:t>RESULTS 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183116-D4ED-9209-BDD1-9E5E041E7B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76656" y="128016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46B"/>
                </a:solidFill>
                <a:latin typeface="Trebuchet MS"/>
              </a:rPr>
              <a:t>KEY QUESTION 8 · ARE PATTERNS CONSISTENT ACROSS REGIONS AND CATEGORIES?</a:t>
            </a:r>
          </a:p>
        </p:txBody>
      </p:sp>
      <p:pic>
        <p:nvPicPr>
          <p:cNvPr id="7" name="Picture 6" descr="cell052_img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3259744" cy="4343400"/>
          </a:xfrm>
          <a:prstGeom prst="rect">
            <a:avLst/>
          </a:prstGeom>
        </p:spPr>
      </p:pic>
      <p:pic>
        <p:nvPicPr>
          <p:cNvPr id="8" name="Picture 7" descr="cell053_img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810512"/>
            <a:ext cx="4983480" cy="385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64040" y="2011680"/>
            <a:ext cx="21945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2C3C43"/>
                </a:solidFill>
                <a:latin typeface="Trebuchet MS"/>
              </a:rPr>
              <a:t>No state leads in every season.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2C3C43"/>
                </a:solidFill>
                <a:latin typeface="Trebuchet MS"/>
              </a:rPr>
              <a:t>Sugarcane &amp; Chilli stay profitable across seasons.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2C3C43"/>
                </a:solidFill>
                <a:latin typeface="Trebuchet MS"/>
              </a:rPr>
              <a:t>Where + when matter as much as what.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690D6CCD-F51F-6D07-5DBF-BD559149D79C}"/>
              </a:ext>
            </a:extLst>
          </p:cNvPr>
          <p:cNvSpPr txBox="1">
            <a:spLocks/>
          </p:cNvSpPr>
          <p:nvPr/>
        </p:nvSpPr>
        <p:spPr>
          <a:xfrm>
            <a:off x="675957" y="370589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/>
              <a:t>RESULTS 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B1CBAA1-5AA7-5965-365E-3EB93BC12F0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76656" y="128016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46B"/>
                </a:solidFill>
                <a:latin typeface="Trebuchet MS"/>
              </a:rPr>
              <a:t>KEY QUESTION 9 · ARE THERE UNUSUAL OR UNEXPECTED PATTERNS?</a:t>
            </a:r>
          </a:p>
        </p:txBody>
      </p:sp>
      <p:pic>
        <p:nvPicPr>
          <p:cNvPr id="7" name="Picture 6" descr="cell056_img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4846320" cy="26834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715000" y="1783080"/>
            <a:ext cx="5925312" cy="2688336"/>
          </a:xfrm>
          <a:prstGeom prst="roundRect">
            <a:avLst>
              <a:gd name="adj" fmla="val 5500"/>
            </a:avLst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E946B"/>
                </a:solidFill>
                <a:latin typeface="Trebuchet MS"/>
              </a:rPr>
              <a:t>209 farms (5.2%)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C3C43"/>
                </a:solidFill>
                <a:latin typeface="Trebuchet MS"/>
              </a:rPr>
              <a:t>with top-quartile yield still lost money. 8 of the 10 biggest loss cases are Sugarcane — costs up to ₹9.9 L against revenue as low as ₹1.8 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92040"/>
            <a:ext cx="111099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2E946B"/>
                </a:solidFill>
                <a:latin typeface="Trebuchet MS"/>
              </a:rPr>
              <a:t>Kharif risk spike:  </a:t>
            </a:r>
            <a:r>
              <a:rPr sz="1450">
                <a:solidFill>
                  <a:srgbClr val="2C3C43"/>
                </a:solidFill>
                <a:latin typeface="Trebuchet MS"/>
              </a:rPr>
              <a:t>disease/pest risk averages 54.5% in Kharif — about 14 points above Rabi (40.5%) and Zaid (38.2%).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2E946B"/>
                </a:solidFill>
                <a:latin typeface="Trebuchet MS"/>
              </a:rPr>
              <a:t>Cost, not output, drives losses  </a:t>
            </a:r>
            <a:r>
              <a:rPr sz="1450">
                <a:solidFill>
                  <a:srgbClr val="2C3C43"/>
                </a:solidFill>
                <a:latin typeface="Trebuchet MS"/>
              </a:rPr>
              <a:t>in the high-yield loss group — cost control matters as much as growing more.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547EAF57-7383-33CF-D6C1-593C66410F08}"/>
              </a:ext>
            </a:extLst>
          </p:cNvPr>
          <p:cNvSpPr txBox="1">
            <a:spLocks/>
          </p:cNvSpPr>
          <p:nvPr/>
        </p:nvSpPr>
        <p:spPr>
          <a:xfrm>
            <a:off x="675957" y="370589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/>
              <a:t>RESULTS 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9ECEA6-9A33-3922-8B5B-15B5B7837D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81906" y="992521"/>
            <a:ext cx="10881360" cy="868680"/>
          </a:xfrm>
        </p:spPr>
        <p:txBody>
          <a:bodyPr wrap="square"/>
          <a:lstStyle/>
          <a:p>
            <a:r>
              <a:rPr sz="3000" b="1">
                <a:latin typeface="Trebuchet MS"/>
              </a:rPr>
              <a:t>Statistical Validation — Are the Differences Real?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194" y="1897777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46B"/>
                </a:solidFill>
                <a:latin typeface="Trebuchet MS"/>
              </a:rPr>
              <a:t>HYPOTHESIS TESTS ON SEASONAL DIFFERENCES (Α = 0.05)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2178" y="2446417"/>
            <a:ext cx="3566160" cy="2514600"/>
          </a:xfrm>
          <a:prstGeom prst="roundRect">
            <a:avLst>
              <a:gd name="adj" fmla="val 5500"/>
            </a:avLst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2C3C43"/>
                </a:solidFill>
                <a:latin typeface="Trebuchet MS"/>
              </a:rPr>
              <a:t>ANOVA · Yield by Season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2C3C43"/>
                </a:solidFill>
                <a:latin typeface="Trebuchet MS"/>
              </a:rPr>
              <a:t>F = 1.269   p = 0.281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C3C43"/>
                </a:solidFill>
                <a:latin typeface="Trebuchet MS"/>
              </a:rPr>
              <a:t>NOT SIGNIFICANT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0362" y="2446417"/>
            <a:ext cx="3566160" cy="2514600"/>
          </a:xfrm>
          <a:prstGeom prst="roundRect">
            <a:avLst>
              <a:gd name="adj" fmla="val 5500"/>
            </a:avLst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2C3C43"/>
                </a:solidFill>
                <a:latin typeface="Trebuchet MS"/>
              </a:rPr>
              <a:t>ANOVA · Profit by Season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2C3C43"/>
                </a:solidFill>
                <a:latin typeface="Trebuchet MS"/>
              </a:rPr>
              <a:t>F = 33.978   p &lt; 0.001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946B"/>
                </a:solidFill>
                <a:latin typeface="Trebuchet MS"/>
              </a:rPr>
              <a:t>SIGNIFICANT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88546" y="2446417"/>
            <a:ext cx="3566160" cy="2514600"/>
          </a:xfrm>
          <a:prstGeom prst="roundRect">
            <a:avLst>
              <a:gd name="adj" fmla="val 5500"/>
            </a:avLst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2C3C43"/>
                </a:solidFill>
                <a:latin typeface="Trebuchet MS"/>
              </a:rPr>
              <a:t>Chi-square · Irrigation × Season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2C3C43"/>
                </a:solidFill>
                <a:latin typeface="Trebuchet MS"/>
              </a:rPr>
              <a:t>χ² = 3.513   p = 0.742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C3C43"/>
                </a:solidFill>
                <a:latin typeface="Trebuchet MS"/>
              </a:rPr>
              <a:t>NO ASSOCIATION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178" y="5372497"/>
            <a:ext cx="111099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2E946B"/>
                </a:solidFill>
                <a:latin typeface="Trebuchet MS"/>
              </a:rPr>
              <a:t>Read:  </a:t>
            </a:r>
            <a:r>
              <a:rPr sz="1450">
                <a:solidFill>
                  <a:srgbClr val="2C3C43"/>
                </a:solidFill>
                <a:latin typeface="Trebuchet MS"/>
              </a:rPr>
              <a:t>seasons differ in profitability, not in average yield — profit gaps are real; apparent yield gaps sit within random variation.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2E946B"/>
                </a:solidFill>
                <a:latin typeface="Trebuchet MS"/>
              </a:rPr>
              <a:t>Post-hoc:  </a:t>
            </a:r>
            <a:r>
              <a:rPr sz="1450">
                <a:solidFill>
                  <a:srgbClr val="2C3C43"/>
                </a:solidFill>
                <a:latin typeface="Trebuchet MS"/>
              </a:rPr>
              <a:t>Tukey HSD skipped because the yield ANOVA was not significant.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6A0D8340-CD1D-57C1-B445-1470A6E08703}"/>
              </a:ext>
            </a:extLst>
          </p:cNvPr>
          <p:cNvSpPr txBox="1">
            <a:spLocks/>
          </p:cNvSpPr>
          <p:nvPr/>
        </p:nvSpPr>
        <p:spPr>
          <a:xfrm>
            <a:off x="500194" y="124948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RESULTS 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D19CFE3-330B-5192-40DF-379F16F8D9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6473952"/>
            <a:ext cx="2139696" cy="192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" y="128016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46B"/>
                </a:solidFill>
                <a:latin typeface="Trebuchet MS"/>
              </a:rPr>
              <a:t>KEY QUESTION 10 · WHAT INSIGHTS FOLLOW FROM THE SEASONAL DIFFERENCES?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946B"/>
                </a:solidFill>
                <a:latin typeface="Trebuchet MS"/>
              </a:rPr>
              <a:t>KHARIF SWEEPS ALL FOUR HEADLINE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2615184" cy="1371600"/>
          </a:xfrm>
          <a:prstGeom prst="roundRect">
            <a:avLst>
              <a:gd name="adj" fmla="val 5500"/>
            </a:avLst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2E946B"/>
                </a:solidFill>
                <a:latin typeface="Trebuchet MS"/>
              </a:rPr>
              <a:t>5.50 t/ha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B74"/>
                </a:solidFill>
                <a:latin typeface="Trebuchet MS"/>
              </a:rPr>
              <a:t>yield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4136" y="2240280"/>
            <a:ext cx="2615184" cy="1371600"/>
          </a:xfrm>
          <a:prstGeom prst="roundRect">
            <a:avLst>
              <a:gd name="adj" fmla="val 5500"/>
            </a:avLst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2E946B"/>
                </a:solidFill>
                <a:latin typeface="Trebuchet MS"/>
              </a:rPr>
              <a:t>₹1.70 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B74"/>
                </a:solidFill>
                <a:latin typeface="Trebuchet MS"/>
              </a:rPr>
              <a:t>avg profit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1" y="2240280"/>
            <a:ext cx="2615184" cy="1371600"/>
          </a:xfrm>
          <a:prstGeom prst="roundRect">
            <a:avLst>
              <a:gd name="adj" fmla="val 5500"/>
            </a:avLst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2E946B"/>
                </a:solidFill>
                <a:latin typeface="Trebuchet MS"/>
              </a:rPr>
              <a:t>34.4%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B74"/>
                </a:solidFill>
                <a:latin typeface="Trebuchet MS"/>
              </a:rPr>
              <a:t>ROI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5128" y="2240280"/>
            <a:ext cx="2615184" cy="1371600"/>
          </a:xfrm>
          <a:prstGeom prst="roundRect">
            <a:avLst>
              <a:gd name="adj" fmla="val 5500"/>
            </a:avLst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2E946B"/>
                </a:solidFill>
                <a:latin typeface="Trebuchet MS"/>
              </a:rPr>
              <a:t>5.89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B74"/>
                </a:solidFill>
                <a:latin typeface="Trebuchet MS"/>
              </a:rPr>
              <a:t>water eff.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77639"/>
            <a:ext cx="1110996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450" b="1">
                <a:solidFill>
                  <a:srgbClr val="2E946B"/>
                </a:solidFill>
                <a:latin typeface="Trebuchet MS"/>
              </a:rPr>
              <a:t>Profit, not yield, separates seasons:  </a:t>
            </a:r>
            <a:r>
              <a:rPr sz="1450">
                <a:solidFill>
                  <a:srgbClr val="2C3C43"/>
                </a:solidFill>
                <a:latin typeface="Trebuchet MS"/>
              </a:rPr>
              <a:t>profit differs significantly (p &lt; 0.001); yield does not (p = 0.28).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2E946B"/>
                </a:solidFill>
                <a:latin typeface="Trebuchet MS"/>
              </a:rPr>
              <a:t>₹1.93 L profit gap  </a:t>
            </a:r>
            <a:r>
              <a:rPr sz="1450">
                <a:solidFill>
                  <a:srgbClr val="2C3C43"/>
                </a:solidFill>
                <a:latin typeface="Trebuchet MS"/>
              </a:rPr>
              <a:t>between Kharif (+₹1.70 L) and Zaid (−₹0.23 L) per average farm.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2E946B"/>
                </a:solidFill>
                <a:latin typeface="Trebuchet MS"/>
              </a:rPr>
              <a:t>Zaid is structurally hard:  </a:t>
            </a:r>
            <a:r>
              <a:rPr sz="1450">
                <a:solidFill>
                  <a:srgbClr val="2C3C43"/>
                </a:solidFill>
                <a:latin typeface="Trebuchet MS"/>
              </a:rPr>
              <a:t>negative ROI (−2.3%) and only 35.5% profitable farms.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2E946B"/>
                </a:solidFill>
                <a:latin typeface="Trebuchet MS"/>
              </a:rPr>
              <a:t>Yield ≠ success:  </a:t>
            </a:r>
            <a:r>
              <a:rPr sz="1450">
                <a:solidFill>
                  <a:srgbClr val="2C3C43"/>
                </a:solidFill>
                <a:latin typeface="Trebuchet MS"/>
              </a:rPr>
              <a:t>5.2% of farms lose money despite top-quartile yield.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19088"/>
            <a:ext cx="52395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B74"/>
                </a:solidFill>
                <a:latin typeface="Trebuchet MS"/>
              </a:rPr>
              <a:t>Source: notebook §15 — auto-generated key insights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DDBB2A36-7886-EC39-FE03-B5126A55EF9F}"/>
              </a:ext>
            </a:extLst>
          </p:cNvPr>
          <p:cNvSpPr txBox="1">
            <a:spLocks/>
          </p:cNvSpPr>
          <p:nvPr/>
        </p:nvSpPr>
        <p:spPr>
          <a:xfrm>
            <a:off x="500194" y="124948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RESULTS 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6473952"/>
            <a:ext cx="2139696" cy="192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0194" y="1642199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dirty="0">
                <a:solidFill>
                  <a:srgbClr val="2E946B"/>
                </a:solidFill>
                <a:latin typeface="Trebuchet MS"/>
              </a:rPr>
              <a:t>KEY QUESTIONS 11–12 · CONCLUSIONS AND BETTER SEASONAL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809" y="2453905"/>
            <a:ext cx="5120640" cy="17697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 dirty="0">
                <a:solidFill>
                  <a:srgbClr val="2E946B"/>
                </a:solidFill>
                <a:latin typeface="Trebuchet MS"/>
              </a:rPr>
              <a:t>CONCLUSIONS</a:t>
            </a:r>
            <a:endParaRPr lang="en-IN" sz="1500" b="1" i="0" dirty="0">
              <a:solidFill>
                <a:srgbClr val="2E946B"/>
              </a:solidFill>
              <a:latin typeface="Trebuchet MS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dirty="0">
                <a:solidFill>
                  <a:srgbClr val="2C3C43"/>
                </a:solidFill>
                <a:latin typeface="Trebuchet MS"/>
              </a:rPr>
              <a:t>Seasonal environments differ sharply — and it carries into farm economics.</a:t>
            </a:r>
          </a:p>
          <a:p>
            <a:pPr>
              <a:spcAft>
                <a:spcPts val="1200"/>
              </a:spcAft>
            </a:pPr>
            <a:r>
              <a:rPr sz="1400" dirty="0">
                <a:solidFill>
                  <a:srgbClr val="2C3C43"/>
                </a:solidFill>
                <a:latin typeface="Trebuchet MS"/>
              </a:rPr>
              <a:t>Profitability, not yield, is what separates the seasons.</a:t>
            </a:r>
          </a:p>
          <a:p>
            <a:pPr>
              <a:spcAft>
                <a:spcPts val="1200"/>
              </a:spcAft>
            </a:pPr>
            <a:r>
              <a:rPr sz="1400" dirty="0">
                <a:solidFill>
                  <a:srgbClr val="2C3C43"/>
                </a:solidFill>
                <a:latin typeface="Trebuchet MS"/>
              </a:rPr>
              <a:t>Inputs are flat across seasons, so the gap is environmental and crop-mix driven.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0484" y="1783080"/>
            <a:ext cx="5696712" cy="3111366"/>
          </a:xfrm>
          <a:prstGeom prst="roundRect">
            <a:avLst>
              <a:gd name="adj" fmla="val 5500"/>
            </a:avLst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E946B"/>
                </a:solidFill>
                <a:latin typeface="Trebuchet MS"/>
              </a:rPr>
              <a:t>RECOMMENDATIONS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E946B"/>
                </a:solidFill>
                <a:latin typeface="Trebuchet MS"/>
              </a:rPr>
              <a:t>1.  </a:t>
            </a:r>
            <a:r>
              <a:rPr sz="1400">
                <a:solidFill>
                  <a:srgbClr val="2C3C43"/>
                </a:solidFill>
                <a:latin typeface="Trebuchet MS"/>
              </a:rPr>
              <a:t>Prioritise Kharif acreage and profitable crops (Sugarcane, Chilli) in seasonal plans.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E946B"/>
                </a:solidFill>
                <a:latin typeface="Trebuchet MS"/>
              </a:rPr>
              <a:t>2.  </a:t>
            </a:r>
            <a:r>
              <a:rPr sz="1400">
                <a:solidFill>
                  <a:srgbClr val="2C3C43"/>
                </a:solidFill>
                <a:latin typeface="Trebuchet MS"/>
              </a:rPr>
              <a:t>Audit high-cost farms — especially Sugarcane — for avoidable overruns.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E946B"/>
                </a:solidFill>
                <a:latin typeface="Trebuchet MS"/>
              </a:rPr>
              <a:t>3.  </a:t>
            </a:r>
            <a:r>
              <a:rPr sz="1400">
                <a:solidFill>
                  <a:srgbClr val="2C3C43"/>
                </a:solidFill>
                <a:latin typeface="Trebuchet MS"/>
              </a:rPr>
              <a:t>Target pest management at Kharif, where risk peaks at 54.5%.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E946B"/>
                </a:solidFill>
                <a:latin typeface="Trebuchet MS"/>
              </a:rPr>
              <a:t>4.  </a:t>
            </a:r>
            <a:r>
              <a:rPr sz="1400">
                <a:solidFill>
                  <a:srgbClr val="2C3C43"/>
                </a:solidFill>
                <a:latin typeface="Trebuchet MS"/>
              </a:rPr>
              <a:t>Transfer Kharif's water-efficient practices to Zaid.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E946B"/>
                </a:solidFill>
                <a:latin typeface="Trebuchet MS"/>
              </a:rPr>
              <a:t>5.  </a:t>
            </a:r>
            <a:r>
              <a:rPr sz="1400">
                <a:solidFill>
                  <a:srgbClr val="2C3C43"/>
                </a:solidFill>
                <a:latin typeface="Trebuchet MS"/>
              </a:rPr>
              <a:t>Plan with the State × Season and Crop × Season matrices — no one-size-fits-all advice.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19088"/>
            <a:ext cx="52395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B74"/>
                </a:solidFill>
                <a:latin typeface="Trebuchet MS"/>
              </a:rPr>
              <a:t>Source: notebook §16 — conclusions &amp; recommendations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57938A7B-6588-DC6E-8556-2CB250874795}"/>
              </a:ext>
            </a:extLst>
          </p:cNvPr>
          <p:cNvSpPr txBox="1">
            <a:spLocks/>
          </p:cNvSpPr>
          <p:nvPr/>
        </p:nvSpPr>
        <p:spPr>
          <a:xfrm>
            <a:off x="500194" y="124948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RESULTS 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429995-8804-DFBE-633D-6823954FF404}"/>
              </a:ext>
            </a:extLst>
          </p:cNvPr>
          <p:cNvSpPr txBox="1"/>
          <p:nvPr/>
        </p:nvSpPr>
        <p:spPr>
          <a:xfrm>
            <a:off x="675957" y="1464644"/>
            <a:ext cx="10515600" cy="19620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sz="1550" b="1" dirty="0">
                <a:solidFill>
                  <a:srgbClr val="2E946B"/>
                </a:solidFill>
                <a:latin typeface="Trebuchet MS"/>
              </a:rPr>
              <a:t>Predictive modelling:  </a:t>
            </a:r>
            <a:r>
              <a:rPr sz="1550" dirty="0">
                <a:solidFill>
                  <a:srgbClr val="2C3C43"/>
                </a:solidFill>
                <a:latin typeface="Trebuchet MS"/>
              </a:rPr>
              <a:t>forecast yield and profit by season, crop and region with machine learning.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sz="1550" b="1" dirty="0">
                <a:solidFill>
                  <a:srgbClr val="2E946B"/>
                </a:solidFill>
                <a:latin typeface="Trebuchet MS"/>
              </a:rPr>
              <a:t>Multi-year data:  </a:t>
            </a:r>
            <a:r>
              <a:rPr sz="1550" dirty="0">
                <a:solidFill>
                  <a:srgbClr val="2C3C43"/>
                </a:solidFill>
                <a:latin typeface="Trebuchet MS"/>
              </a:rPr>
              <a:t>add year-on-year records to separate seasonal effects from long-term trends.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sz="1550" b="1" dirty="0">
                <a:solidFill>
                  <a:srgbClr val="2E946B"/>
                </a:solidFill>
                <a:latin typeface="Trebuchet MS"/>
              </a:rPr>
              <a:t>Weather &amp; remote sensing:  </a:t>
            </a:r>
            <a:r>
              <a:rPr sz="1550" dirty="0">
                <a:solidFill>
                  <a:srgbClr val="2C3C43"/>
                </a:solidFill>
                <a:latin typeface="Trebuchet MS"/>
              </a:rPr>
              <a:t>integrate satellite vegetation indices and live weather feeds.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sz="1550" b="1" dirty="0">
                <a:solidFill>
                  <a:srgbClr val="2E946B"/>
                </a:solidFill>
                <a:latin typeface="Trebuchet MS"/>
              </a:rPr>
              <a:t>Farmer-facing dashboard:  </a:t>
            </a:r>
            <a:r>
              <a:rPr sz="1550" dirty="0">
                <a:solidFill>
                  <a:srgbClr val="2C3C43"/>
                </a:solidFill>
                <a:latin typeface="Trebuchet MS"/>
              </a:rPr>
              <a:t>district-level, season-aware decision support for crop planning.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sz="1550" b="1" dirty="0">
                <a:solidFill>
                  <a:srgbClr val="2E946B"/>
                </a:solidFill>
                <a:latin typeface="Trebuchet MS"/>
              </a:rPr>
              <a:t>Cost </a:t>
            </a:r>
            <a:r>
              <a:rPr sz="1550" b="1" dirty="0" err="1">
                <a:solidFill>
                  <a:srgbClr val="2E946B"/>
                </a:solidFill>
                <a:latin typeface="Trebuchet MS"/>
              </a:rPr>
              <a:t>optimisation</a:t>
            </a:r>
            <a:r>
              <a:rPr sz="1550" b="1" dirty="0">
                <a:solidFill>
                  <a:srgbClr val="2E946B"/>
                </a:solidFill>
                <a:latin typeface="Trebuchet MS"/>
              </a:rPr>
              <a:t>:  </a:t>
            </a:r>
            <a:r>
              <a:rPr sz="1550" dirty="0">
                <a:solidFill>
                  <a:srgbClr val="2C3C43"/>
                </a:solidFill>
                <a:latin typeface="Trebuchet MS"/>
              </a:rPr>
              <a:t>recommend input levels that </a:t>
            </a:r>
            <a:r>
              <a:rPr sz="1550" dirty="0" err="1">
                <a:solidFill>
                  <a:srgbClr val="2C3C43"/>
                </a:solidFill>
                <a:latin typeface="Trebuchet MS"/>
              </a:rPr>
              <a:t>maximise</a:t>
            </a:r>
            <a:r>
              <a:rPr sz="1550" dirty="0">
                <a:solidFill>
                  <a:srgbClr val="2C3C43"/>
                </a:solidFill>
                <a:latin typeface="Trebuchet MS"/>
              </a:rPr>
              <a:t> ROI, not just output.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29256" y="1201586"/>
            <a:ext cx="7232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https://github.com/atharvadeshpande547-hub/seasonal-agriculture-performance-analysis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1567A7-FE5F-72F7-C39C-DA495B8E2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25" y="1382430"/>
            <a:ext cx="7770211" cy="5475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EBD455-7E45-CBD1-0375-1343B73410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828357" y="66243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5" name="Picture 4" descr="Thank you text blue background Images - Free Download on Magnific (formerly  Freepik)">
            <a:extLst>
              <a:ext uri="{FF2B5EF4-FFF2-40B4-BE49-F238E27FC236}">
                <a16:creationId xmlns:a16="http://schemas.microsoft.com/office/drawing/2014/main" id="{F8972416-D355-53CA-63F3-9788CA0484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94" t="10512" r="10848" b="9014"/>
          <a:stretch>
            <a:fillRect/>
          </a:stretch>
        </p:blipFill>
        <p:spPr>
          <a:xfrm>
            <a:off x="2390278" y="681789"/>
            <a:ext cx="5479195" cy="55986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664636-2819-3DFE-16EC-67C77FC4B1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2209</TotalTime>
  <Words>1613</Words>
  <Application>Microsoft Office PowerPoint</Application>
  <PresentationFormat>Widescreen</PresentationFormat>
  <Paragraphs>176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Calibri</vt:lpstr>
      <vt:lpstr>DM Sans</vt:lpstr>
      <vt:lpstr>DM Sans SemiBold</vt:lpstr>
      <vt:lpstr>Inter Medium</vt:lpstr>
      <vt:lpstr>PT Serif</vt:lpstr>
      <vt:lpstr>Trebuchet MS</vt:lpstr>
      <vt:lpstr>Wingdings</vt:lpstr>
      <vt:lpstr>Wingdings 3</vt:lpstr>
      <vt:lpstr>Facet</vt:lpstr>
      <vt:lpstr>Project Title – Seasonal Agriculture performance Analysis</vt:lpstr>
      <vt:lpstr>PROBLEM  STATEMENT</vt:lpstr>
      <vt:lpstr>Project Description </vt:lpstr>
      <vt:lpstr>WHO ARE THE END USERS?</vt:lpstr>
      <vt:lpstr>Technology Used</vt:lpstr>
      <vt:lpstr>RESULTS </vt:lpstr>
      <vt:lpstr>RESULTS </vt:lpstr>
      <vt:lpstr>RESULTS </vt:lpstr>
      <vt:lpstr>RESULTS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Statistical Validation — Are the Differences Real?</vt:lpstr>
      <vt:lpstr>PowerPoint Presentation</vt:lpstr>
      <vt:lpstr>PowerPoint Presentation</vt:lpstr>
      <vt:lpstr>Future scope</vt:lpstr>
      <vt:lpstr>GitHub Link</vt:lpstr>
      <vt:lpstr>VOIS Course completion certificate -  Course name- Data Visualization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Atharva Deshpande</cp:lastModifiedBy>
  <cp:revision>100</cp:revision>
  <dcterms:created xsi:type="dcterms:W3CDTF">2021-07-11T13:13:15Z</dcterms:created>
  <dcterms:modified xsi:type="dcterms:W3CDTF">2026-09-08T15:15:07Z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