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</p:sldIdLst>
  <p:sldSz cx="12192000" cy="6858000"/>
  <p:notesSz cx="6858000" cy="12192000"/>
  <p:embeddedFontLst>
    <p:embeddedFont>
      <p:font typeface="DM Sans SemiBold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Inter Medium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9329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161282"/>
            <a:ext cx="2270366" cy="251420"/>
          </a:xfrm>
          <a:prstGeom prst="roundRect">
            <a:avLst>
              <a:gd name="adj" fmla="val 7894"/>
            </a:avLst>
          </a:prstGeom>
          <a:solidFill>
            <a:srgbClr val="D4F7EC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2210891"/>
            <a:ext cx="268151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AGRICULTURAL DATA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47878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Seasonal Agriculture Performance Analysis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324356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How Kharif, Rabi &amp; Zaid seasons shape yield, cost, and profitability across 4,000 farm records spanning 8 states, 8 crops, and 3 seasons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2415" y="3694212"/>
            <a:ext cx="3591629" cy="1002506"/>
          </a:xfrm>
          <a:prstGeom prst="roundRect">
            <a:avLst>
              <a:gd name="adj" fmla="val 2475"/>
            </a:avLst>
          </a:prstGeom>
          <a:solidFill>
            <a:srgbClr val="2D5016"/>
          </a:solidFill>
          <a:ln/>
        </p:spPr>
      </p:sp>
      <p:sp>
        <p:nvSpPr>
          <p:cNvPr id="7" name="Text 5"/>
          <p:cNvSpPr/>
          <p:nvPr/>
        </p:nvSpPr>
        <p:spPr>
          <a:xfrm>
            <a:off x="707710" y="3859510"/>
            <a:ext cx="32610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Kharif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7710" y="4283273"/>
            <a:ext cx="38706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5.50 t/ha · ₹1,70,101 profit · 34.4% ROI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24748" y="3859510"/>
            <a:ext cx="335351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Rabi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24748" y="4283273"/>
            <a:ext cx="396309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4.98 t/ha · ₹86,254 profit · 17.4% ROI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88021" y="3859510"/>
            <a:ext cx="335351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Zaid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8021" y="4283273"/>
            <a:ext cx="396309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4.64 t/ha · −₹23,235 loss · −2.3% ROI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95040"/>
            <a:ext cx="1669611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0691" y="844649"/>
            <a:ext cx="2080764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11254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Three Seasons, Three Distinct Realities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877318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4,000-record analysis reveals that seasonal timing is not merely an agronomic variable — it is the primary determinant of economic outcomes. The gap between Kharif and Zaid is not marginal; it is structural.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592586"/>
            <a:ext cx="5351725" cy="15202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2017" y="2776934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D50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Kharif Dominates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22017" y="3134618"/>
            <a:ext cx="490684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Highest yield at </a:t>
            </a: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5.50 t/ha</a:t>
            </a: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total profit of </a:t>
            </a: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₹1,70,101</a:t>
            </a: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ROI of </a:t>
            </a: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34.4%</a:t>
            </a: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and the best water efficiency of any season. </a:t>
            </a: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57.8%</a:t>
            </a: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of Kharif farms are profitable — the highest across all seasons.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8495" y="2592586"/>
            <a:ext cx="5351725" cy="15202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39037" y="2776934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B8860B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Rabi Holds the Middle Ground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39037" y="3134618"/>
            <a:ext cx="490684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Moderate performance across all tracked metrics: </a:t>
            </a: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4.98 t/ha</a:t>
            </a: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yield, </a:t>
            </a: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₹86,254</a:t>
            </a: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profit, </a:t>
            </a: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17.4% ROI</a:t>
            </a: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Nearly half of farms (</a:t>
            </a: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48.9%</a:t>
            </a: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) are profitable — a viable but underwhelming result.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278114"/>
            <a:ext cx="5351725" cy="178484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22017" y="4462463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A7C3C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Zaid Consistently Underperforms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922017" y="4820146"/>
            <a:ext cx="490684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Lowest yield (</a:t>
            </a: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4.64 t/ha</a:t>
            </a: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), average net loss of </a:t>
            </a: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−₹23,235</a:t>
            </a: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ROI of </a:t>
            </a: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−2.3%</a:t>
            </a: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and only </a:t>
            </a: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35.5%</a:t>
            </a: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of farms profitable. Zaid represents a systemic failure of resource alignment.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4278114"/>
            <a:ext cx="5351725" cy="178484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39037" y="4462463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Statistical Verdict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439037" y="4820146"/>
            <a:ext cx="490684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Profit differs </a:t>
            </a: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significantly by season</a:t>
            </a: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(ANOVA p&lt;0.00001). Critically, yield does </a:t>
            </a:r>
            <a:r>
              <a:rPr lang="en-US" sz="13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</a:t>
            </a:r>
            <a:r>
              <a:rPr 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differ significantly (p=0.28) — confirming that cost structure and resource efficiency, not raw output, drive the profitability gap.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89049"/>
            <a:ext cx="1374245" cy="247352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9104" y="537865"/>
            <a:ext cx="1788572" cy="149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DATASET &amp; SCOPE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00497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Study Coverage &amp; Variables Tracked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4300" y="1549499"/>
            <a:ext cx="4343589" cy="4819352"/>
          </a:xfrm>
          <a:prstGeom prst="roundRect">
            <a:avLst>
              <a:gd name="adj" fmla="val 562"/>
            </a:avLst>
          </a:prstGeom>
          <a:solidFill>
            <a:srgbClr val="2D5016"/>
          </a:solidFill>
          <a:ln/>
        </p:spPr>
      </p:sp>
      <p:sp>
        <p:nvSpPr>
          <p:cNvPr id="6" name="Text 4"/>
          <p:cNvSpPr/>
          <p:nvPr/>
        </p:nvSpPr>
        <p:spPr>
          <a:xfrm>
            <a:off x="707015" y="1709738"/>
            <a:ext cx="401816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Dataset at a Glance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7015" y="2124273"/>
            <a:ext cx="4018160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4,000 farm records</a:t>
            </a:r>
            <a:r>
              <a:rPr lang="en-US" sz="12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across 8 Indian states, 8 major crops, and 3 distinct agricultural seasons.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07015" y="2862163"/>
            <a:ext cx="4018160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07015" y="3102173"/>
            <a:ext cx="401816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Season Distribution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7015" y="3516709"/>
            <a:ext cx="4018160" cy="1063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Kharif:</a:t>
            </a:r>
            <a:r>
              <a:rPr lang="en-US" sz="12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1,779 records (44.5%)</a:t>
            </a:r>
            <a:endParaRPr lang="en-US" sz="1250" dirty="0"/>
          </a:p>
          <a:p>
            <a:pPr marL="0" indent="0" algn="l">
              <a:lnSpc>
                <a:spcPct val="132000"/>
              </a:lnSpc>
              <a:spcAft>
                <a:spcPts val="11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Rabi:</a:t>
            </a:r>
            <a:r>
              <a:rPr lang="en-US" sz="12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1,627 records (40.7%)</a:t>
            </a:r>
            <a:endParaRPr lang="en-US" sz="12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Zaid:</a:t>
            </a:r>
            <a:r>
              <a:rPr lang="en-US" sz="12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594 records (14.9%)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174128" y="1709738"/>
            <a:ext cx="6362342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Variables Tracked Across Three Domains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74128" y="2144316"/>
            <a:ext cx="3101004" cy="1942009"/>
          </a:xfrm>
          <a:prstGeom prst="roundRect">
            <a:avLst>
              <a:gd name="adj" fmla="val 125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5336843" y="2307034"/>
            <a:ext cx="2775575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Environmental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36843" y="2721570"/>
            <a:ext cx="2775575" cy="1202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Rainfall (mm)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Temperature (°C)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Humidity (%)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Soil moisture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435367" y="2144316"/>
            <a:ext cx="3101104" cy="1942009"/>
          </a:xfrm>
          <a:prstGeom prst="roundRect">
            <a:avLst>
              <a:gd name="adj" fmla="val 1258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8598082" y="2307034"/>
            <a:ext cx="2775674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Resource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8082" y="2721570"/>
            <a:ext cx="2775674" cy="88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Fertilizer use (kg/ha NPK)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Water use (m³/ha)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Irrigation method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174128" y="4246563"/>
            <a:ext cx="6362342" cy="1942009"/>
          </a:xfrm>
          <a:prstGeom prst="roundRect">
            <a:avLst>
              <a:gd name="adj" fmla="val 1258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5336843" y="4409281"/>
            <a:ext cx="6036913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Economic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36843" y="4823817"/>
            <a:ext cx="6036913" cy="1202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Yield (t/ha)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Profit / Loss (₹)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ROI (%)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Input cost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4819"/>
            <a:ext cx="915072" cy="12571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1083" y="479623"/>
            <a:ext cx="1425440" cy="7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PERFORMANCE METRICS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661475" y="59699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Seasonal Performance Snapshot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3910"/>
            <a:ext cx="5886997" cy="404038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5050730"/>
            <a:ext cx="5886997" cy="40403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756429" y="963910"/>
            <a:ext cx="2369384" cy="559395"/>
          </a:xfrm>
          <a:prstGeom prst="roundRect">
            <a:avLst>
              <a:gd name="adj" fmla="val 2217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1776" y="1059259"/>
            <a:ext cx="2178690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2D50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Kharif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6851776" y="1229717"/>
            <a:ext cx="2178690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5.50 t/ha</a:t>
            </a:r>
            <a:r>
              <a:rPr lang="en-US" sz="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yield · </a:t>
            </a:r>
            <a:r>
              <a:rPr lang="en-US" sz="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₹1,70,101</a:t>
            </a:r>
            <a:r>
              <a:rPr lang="en-US" sz="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profit</a:t>
            </a:r>
            <a:endParaRPr lang="en-US" sz="6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34.4% ROI</a:t>
            </a:r>
            <a:r>
              <a:rPr lang="en-US" sz="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· </a:t>
            </a:r>
            <a:r>
              <a:rPr lang="en-US" sz="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57.8%</a:t>
            </a:r>
            <a:r>
              <a:rPr lang="en-US" sz="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farms profitable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9167087" y="963910"/>
            <a:ext cx="2369384" cy="559395"/>
          </a:xfrm>
          <a:prstGeom prst="roundRect">
            <a:avLst>
              <a:gd name="adj" fmla="val 2217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262434" y="1059259"/>
            <a:ext cx="2178690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B8860B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Rabi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9262434" y="1229717"/>
            <a:ext cx="2178690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4.98 t/ha</a:t>
            </a:r>
            <a:r>
              <a:rPr lang="en-US" sz="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yield · </a:t>
            </a:r>
            <a:r>
              <a:rPr lang="en-US" sz="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₹86,254</a:t>
            </a:r>
            <a:r>
              <a:rPr lang="en-US" sz="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profit</a:t>
            </a:r>
            <a:endParaRPr lang="en-US" sz="6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17.4% ROI</a:t>
            </a:r>
            <a:r>
              <a:rPr lang="en-US" sz="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· </a:t>
            </a:r>
            <a:r>
              <a:rPr lang="en-US" sz="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48.9%</a:t>
            </a:r>
            <a:r>
              <a:rPr lang="en-US" sz="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farms profitable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6756429" y="1564580"/>
            <a:ext cx="4780041" cy="559395"/>
          </a:xfrm>
          <a:prstGeom prst="roundRect">
            <a:avLst>
              <a:gd name="adj" fmla="val 2217"/>
            </a:avLst>
          </a:prstGeom>
          <a:solidFill>
            <a:srgbClr val="FFFFFF"/>
          </a:solidFill>
          <a:ln w="12700">
            <a:solidFill>
              <a:srgbClr val="D8D4D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851776" y="1659930"/>
            <a:ext cx="4589348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A7C3C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Zaid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851776" y="1830387"/>
            <a:ext cx="4589348" cy="198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4.64 t/ha</a:t>
            </a:r>
            <a:r>
              <a:rPr lang="en-US" sz="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yield · </a:t>
            </a:r>
            <a:r>
              <a:rPr lang="en-US" sz="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−₹23,235</a:t>
            </a:r>
            <a:r>
              <a:rPr lang="en-US" sz="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loss</a:t>
            </a:r>
            <a:endParaRPr lang="en-US" sz="6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−2.3% ROI</a:t>
            </a:r>
            <a:r>
              <a:rPr lang="en-US" sz="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· </a:t>
            </a:r>
            <a:r>
              <a:rPr lang="en-US" sz="6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35.5%</a:t>
            </a:r>
            <a:r>
              <a:rPr lang="en-US" sz="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farms profitable</a:t>
            </a:r>
            <a:endParaRPr lang="en-US" sz="650" dirty="0"/>
          </a:p>
        </p:txBody>
      </p:sp>
      <p:sp>
        <p:nvSpPr>
          <p:cNvPr id="16" name="Shape 12"/>
          <p:cNvSpPr/>
          <p:nvPr/>
        </p:nvSpPr>
        <p:spPr>
          <a:xfrm>
            <a:off x="6756429" y="2170410"/>
            <a:ext cx="4780041" cy="214809"/>
          </a:xfrm>
          <a:prstGeom prst="roundRect">
            <a:avLst>
              <a:gd name="adj" fmla="val 5775"/>
            </a:avLst>
          </a:prstGeom>
          <a:solidFill>
            <a:srgbClr val="D4F7E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077" y="2236192"/>
            <a:ext cx="103284" cy="8264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25008" y="2228255"/>
            <a:ext cx="5038401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ANOVA confirms profit differences are statistically significant (p&lt;0.00001); yield differences are not (p=0.28).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4819"/>
            <a:ext cx="1448260" cy="12571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1083" y="479623"/>
            <a:ext cx="1958628" cy="76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ENVIRONMENTAL &amp; RESOURCE ANALYSIS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661475" y="59699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Environment &amp; Resources by Season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17476"/>
            <a:ext cx="10868745" cy="608657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61475" y="7510165"/>
            <a:ext cx="5413736" cy="517525"/>
          </a:xfrm>
          <a:prstGeom prst="roundRect">
            <a:avLst>
              <a:gd name="adj" fmla="val 2397"/>
            </a:avLst>
          </a:prstGeom>
          <a:solidFill>
            <a:srgbClr val="F2EEEE"/>
          </a:solidFill>
          <a:ln/>
        </p:spPr>
      </p:sp>
      <p:sp>
        <p:nvSpPr>
          <p:cNvPr id="15" name="Shape 12"/>
          <p:cNvSpPr/>
          <p:nvPr/>
        </p:nvSpPr>
        <p:spPr>
          <a:xfrm>
            <a:off x="6116484" y="7510165"/>
            <a:ext cx="5413736" cy="517525"/>
          </a:xfrm>
          <a:prstGeom prst="roundRect">
            <a:avLst>
              <a:gd name="adj" fmla="val 2397"/>
            </a:avLst>
          </a:prstGeom>
          <a:solidFill>
            <a:srgbClr val="F2EEEE"/>
          </a:solidFill>
          <a:ln/>
        </p:spPr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6BFA71D-77B1-98B6-174A-B455B2EC9246}"/>
              </a:ext>
            </a:extLst>
          </p:cNvPr>
          <p:cNvGrpSpPr/>
          <p:nvPr/>
        </p:nvGrpSpPr>
        <p:grpSpPr>
          <a:xfrm>
            <a:off x="661474" y="2670989"/>
            <a:ext cx="10868745" cy="894557"/>
            <a:chOff x="661475" y="7050484"/>
            <a:chExt cx="10868745" cy="894557"/>
          </a:xfrm>
        </p:grpSpPr>
        <p:sp>
          <p:nvSpPr>
            <p:cNvPr id="6" name="Shape 3"/>
            <p:cNvSpPr/>
            <p:nvPr/>
          </p:nvSpPr>
          <p:spPr>
            <a:xfrm>
              <a:off x="661475" y="7050484"/>
              <a:ext cx="5413736" cy="418405"/>
            </a:xfrm>
            <a:prstGeom prst="roundRect">
              <a:avLst>
                <a:gd name="adj" fmla="val 2965"/>
              </a:avLst>
            </a:prstGeom>
            <a:solidFill>
              <a:srgbClr val="F2EEEE"/>
            </a:solidFill>
            <a:ln/>
          </p:spPr>
        </p:sp>
        <p:sp>
          <p:nvSpPr>
            <p:cNvPr id="7" name="Text 4"/>
            <p:cNvSpPr/>
            <p:nvPr/>
          </p:nvSpPr>
          <p:spPr>
            <a:xfrm>
              <a:off x="744122" y="7133134"/>
              <a:ext cx="5248441" cy="1291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800" dirty="0">
                  <a:solidFill>
                    <a:srgbClr val="464646"/>
                  </a:solidFill>
                  <a:latin typeface="DM Sans SemiBold" pitchFamily="34" charset="0"/>
                  <a:ea typeface="DM Sans SemiBold" pitchFamily="34" charset="-122"/>
                  <a:cs typeface="DM Sans SemiBold" pitchFamily="34" charset="-120"/>
                </a:rPr>
                <a:t>Rainfall Decline</a:t>
              </a:r>
              <a:endParaRPr lang="en-US" sz="8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744122" y="7287121"/>
              <a:ext cx="5248441" cy="991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650" dirty="0">
                  <a:solidFill>
                    <a:srgbClr val="464646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Kharif </a:t>
              </a:r>
              <a:r>
                <a:rPr lang="en-US" sz="650" b="1" dirty="0">
                  <a:solidFill>
                    <a:srgbClr val="464646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852mm</a:t>
              </a:r>
              <a:r>
                <a:rPr lang="en-US" sz="650" dirty="0">
                  <a:solidFill>
                    <a:srgbClr val="464646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 → Rabi </a:t>
              </a:r>
              <a:r>
                <a:rPr lang="en-US" sz="650" b="1" dirty="0">
                  <a:solidFill>
                    <a:srgbClr val="464646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436mm</a:t>
              </a:r>
              <a:r>
                <a:rPr lang="en-US" sz="650" dirty="0">
                  <a:solidFill>
                    <a:srgbClr val="464646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 → Zaid </a:t>
              </a:r>
              <a:r>
                <a:rPr lang="en-US" sz="650" b="1" dirty="0">
                  <a:solidFill>
                    <a:srgbClr val="464646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299mm</a:t>
              </a:r>
              <a:r>
                <a:rPr lang="en-US" sz="650" dirty="0">
                  <a:solidFill>
                    <a:srgbClr val="464646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. A 65% reduction from peak to trough season.</a:t>
              </a:r>
              <a:endParaRPr lang="en-US" sz="650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6116484" y="7050484"/>
              <a:ext cx="5413736" cy="418405"/>
            </a:xfrm>
            <a:prstGeom prst="roundRect">
              <a:avLst>
                <a:gd name="adj" fmla="val 2965"/>
              </a:avLst>
            </a:prstGeom>
            <a:solidFill>
              <a:srgbClr val="F2EEEE"/>
            </a:solidFill>
            <a:ln/>
          </p:spPr>
        </p:sp>
        <p:sp>
          <p:nvSpPr>
            <p:cNvPr id="10" name="Text 7"/>
            <p:cNvSpPr/>
            <p:nvPr/>
          </p:nvSpPr>
          <p:spPr>
            <a:xfrm>
              <a:off x="6199132" y="7133134"/>
              <a:ext cx="5248441" cy="1291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800" dirty="0">
                  <a:solidFill>
                    <a:srgbClr val="464646"/>
                  </a:solidFill>
                  <a:latin typeface="DM Sans SemiBold" pitchFamily="34" charset="0"/>
                  <a:ea typeface="DM Sans SemiBold" pitchFamily="34" charset="-122"/>
                  <a:cs typeface="DM Sans SemiBold" pitchFamily="34" charset="-120"/>
                </a:rPr>
                <a:t>Temperature Gradient</a:t>
              </a:r>
              <a:endParaRPr lang="en-US" sz="8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6199132" y="7287121"/>
              <a:ext cx="5248441" cy="991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650" dirty="0">
                  <a:solidFill>
                    <a:srgbClr val="464646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Kharif </a:t>
              </a:r>
              <a:r>
                <a:rPr lang="en-US" sz="650" b="1" dirty="0">
                  <a:solidFill>
                    <a:srgbClr val="464646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28.5°C</a:t>
              </a:r>
              <a:r>
                <a:rPr lang="en-US" sz="650" dirty="0">
                  <a:solidFill>
                    <a:srgbClr val="464646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 → Rabi </a:t>
              </a:r>
              <a:r>
                <a:rPr lang="en-US" sz="650" b="1" dirty="0">
                  <a:solidFill>
                    <a:srgbClr val="464646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23.5°C</a:t>
              </a:r>
              <a:r>
                <a:rPr lang="en-US" sz="650" dirty="0">
                  <a:solidFill>
                    <a:srgbClr val="464646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 → Zaid </a:t>
              </a:r>
              <a:r>
                <a:rPr lang="en-US" sz="650" b="1" dirty="0">
                  <a:solidFill>
                    <a:srgbClr val="464646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31.0°C</a:t>
              </a:r>
              <a:r>
                <a:rPr lang="en-US" sz="650" dirty="0">
                  <a:solidFill>
                    <a:srgbClr val="464646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. Zaid is the hottest season, compounding water stress.</a:t>
              </a:r>
              <a:endParaRPr lang="en-US" sz="65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744122" y="7592814"/>
              <a:ext cx="5248441" cy="1291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800" dirty="0">
                  <a:solidFill>
                    <a:srgbClr val="464646"/>
                  </a:solidFill>
                  <a:latin typeface="DM Sans SemiBold" pitchFamily="34" charset="0"/>
                  <a:ea typeface="DM Sans SemiBold" pitchFamily="34" charset="-122"/>
                  <a:cs typeface="DM Sans SemiBold" pitchFamily="34" charset="-120"/>
                </a:rPr>
                <a:t>Water Usage Paradox</a:t>
              </a:r>
              <a:endParaRPr lang="en-US" sz="8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744122" y="7746802"/>
              <a:ext cx="5248441" cy="1982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650" dirty="0">
                  <a:solidFill>
                    <a:srgbClr val="464646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Zaid uses </a:t>
              </a:r>
              <a:r>
                <a:rPr lang="en-US" sz="650" b="1" dirty="0">
                  <a:solidFill>
                    <a:srgbClr val="464646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6,420 m³/ha</a:t>
              </a:r>
              <a:r>
                <a:rPr lang="en-US" sz="650" dirty="0">
                  <a:solidFill>
                    <a:srgbClr val="464646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 — the highest of any season — despite being the driest. Irrigation practice is critically misaligned with climate.</a:t>
              </a:r>
              <a:endParaRPr lang="en-US" sz="65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6199132" y="7592814"/>
              <a:ext cx="5248441" cy="1291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800" dirty="0">
                  <a:solidFill>
                    <a:srgbClr val="464646"/>
                  </a:solidFill>
                  <a:latin typeface="DM Sans SemiBold" pitchFamily="34" charset="0"/>
                  <a:ea typeface="DM Sans SemiBold" pitchFamily="34" charset="-122"/>
                  <a:cs typeface="DM Sans SemiBold" pitchFamily="34" charset="-120"/>
                </a:rPr>
                <a:t>Fertilizer Input</a:t>
              </a:r>
              <a:endParaRPr lang="en-US" sz="8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6199132" y="7746802"/>
              <a:ext cx="5248441" cy="9912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650" dirty="0">
                  <a:solidFill>
                    <a:srgbClr val="464646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NPK application is nearly flat across all seasons at approximately </a:t>
              </a:r>
              <a:r>
                <a:rPr lang="en-US" sz="650" b="1" dirty="0">
                  <a:solidFill>
                    <a:srgbClr val="464646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~185 kg/ha</a:t>
              </a:r>
              <a:r>
                <a:rPr lang="en-US" sz="650" dirty="0">
                  <a:solidFill>
                    <a:srgbClr val="464646"/>
                  </a:solidFill>
                  <a:latin typeface="Inter Medium" pitchFamily="34" charset="0"/>
                  <a:ea typeface="Inter Medium" pitchFamily="34" charset="-122"/>
                  <a:cs typeface="Inter Medium" pitchFamily="34" charset="-120"/>
                </a:rPr>
                <a:t>. Fertilizer is not a differentiating variable.</a:t>
              </a:r>
              <a:endParaRPr lang="en-US" sz="65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2480"/>
            <a:ext cx="2340016" cy="231676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2952" y="518220"/>
            <a:ext cx="2766646" cy="140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YIELD–ENVIRONMENT DISCONNECT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760313"/>
            <a:ext cx="10868745" cy="476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Yield-Environment Disconnect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61475" y="1447602"/>
            <a:ext cx="10868745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Conventional wisdom suggests that better rainfall and milder temperatures produce higher yields. The data tells a more nuanced story: climate variables have almost no direct bearing on farm-level output. Management quality does.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32620"/>
            <a:ext cx="5248441" cy="11905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9119" y="2404070"/>
            <a:ext cx="4829352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Yield vs. Rainfall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09119" y="2782788"/>
            <a:ext cx="4829352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Pearson correlation: </a:t>
            </a: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 = 0.03</a:t>
            </a: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effectively zero. More rain does not reliably translate to more yield at the farm level.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563640"/>
            <a:ext cx="5248441" cy="11905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09119" y="3735090"/>
            <a:ext cx="4829352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Yield vs. Humidity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09119" y="4113808"/>
            <a:ext cx="4829352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Pearson correlation: </a:t>
            </a: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 = 0.01</a:t>
            </a: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no meaningful relationship. Ambient moisture conditions do not drive output differences.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894659"/>
            <a:ext cx="5248441" cy="11905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9119" y="5066109"/>
            <a:ext cx="4829352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Yield vs. Temperature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909119" y="5444827"/>
            <a:ext cx="4829352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Pearson correlation: </a:t>
            </a:r>
            <a:r>
              <a:rPr lang="en-US" sz="12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 = 0.01</a:t>
            </a: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near zero. Even in Zaid's extreme heat (31°C), the temperature signal is negligible.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178395" y="2074565"/>
            <a:ext cx="5467908" cy="4310955"/>
          </a:xfrm>
          <a:prstGeom prst="roundRect">
            <a:avLst>
              <a:gd name="adj" fmla="val 531"/>
            </a:avLst>
          </a:prstGeom>
          <a:solidFill>
            <a:srgbClr val="2D5016"/>
          </a:solidFill>
          <a:ln/>
        </p:spPr>
      </p:sp>
      <p:sp>
        <p:nvSpPr>
          <p:cNvPr id="16" name="Text 11"/>
          <p:cNvSpPr/>
          <p:nvPr/>
        </p:nvSpPr>
        <p:spPr>
          <a:xfrm>
            <a:off x="6330792" y="2215059"/>
            <a:ext cx="5163115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One Metric That Matters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330792" y="2593777"/>
            <a:ext cx="5772700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Yield vs. </a:t>
            </a: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Water Efficiency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30792" y="2968724"/>
            <a:ext cx="5163115" cy="952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 = 0.91</a:t>
            </a:r>
            <a:endParaRPr lang="en-US" sz="6000" dirty="0"/>
          </a:p>
        </p:txBody>
      </p:sp>
      <p:sp>
        <p:nvSpPr>
          <p:cNvPr id="19" name="Text 14"/>
          <p:cNvSpPr/>
          <p:nvPr/>
        </p:nvSpPr>
        <p:spPr>
          <a:xfrm>
            <a:off x="6330792" y="4062214"/>
            <a:ext cx="5163115" cy="70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correlation of </a:t>
            </a: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0.91</a:t>
            </a:r>
            <a:r>
              <a:rPr lang="en-US" sz="12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between yield and water efficiency is the strongest signal in the dataset. </a:t>
            </a: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water is used</a:t>
            </a:r>
            <a:r>
              <a:rPr lang="en-US" sz="12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matters far more than how much rainfall falls.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30792" y="4961731"/>
            <a:ext cx="5163115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6330792" y="5176937"/>
            <a:ext cx="5163115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Strategic Implication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330792" y="5555655"/>
            <a:ext cx="5163115" cy="70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Better irrigation scheduling and precision water management can overcome seasonal climate constraints. This is the primary operational lever available to farm managers across all three seasons.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58688"/>
            <a:ext cx="1935511" cy="227806"/>
          </a:xfrm>
          <a:prstGeom prst="roundRect">
            <a:avLst>
              <a:gd name="adj" fmla="val 7895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1365" y="503634"/>
            <a:ext cx="2365316" cy="137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REGIONAL &amp; CROP VARIATION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40767"/>
            <a:ext cx="10868745" cy="468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Regional &amp; Crop-Wise Variation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548705"/>
            <a:ext cx="6374943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Crop Profitability Across Seasons (₹)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35659"/>
            <a:ext cx="6374943" cy="41890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8479" y="1565672"/>
            <a:ext cx="4127992" cy="1393527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77345" y="1734542"/>
            <a:ext cx="3790260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2D501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Cash Crops Stay Profitable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577345" y="2104529"/>
            <a:ext cx="37902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Sugarcane, Chilli, and Cotton maintain positive returns across </a:t>
            </a:r>
            <a:r>
              <a:rPr lang="en-US" sz="11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all three seasons</a:t>
            </a: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Crop selection is the most reliable profitability lever available.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08479" y="3095030"/>
            <a:ext cx="4127992" cy="1622127"/>
          </a:xfrm>
          <a:prstGeom prst="roundRect">
            <a:avLst>
              <a:gd name="adj" fmla="val 1386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77345" y="3263900"/>
            <a:ext cx="3790260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B8860B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Staple Grains Consistently Lose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577345" y="3633887"/>
            <a:ext cx="37902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Wheat, Rice, and Maize run losses in every season, with the deepest deficits in Zaid. Staples under Zaid conditions are economically indefensible without subsidy.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08479" y="4852987"/>
            <a:ext cx="4127992" cy="1393527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77345" y="5021858"/>
            <a:ext cx="3790260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Punjab's Rabi Exception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577345" y="5391845"/>
            <a:ext cx="37902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Most states peak in Kharif, but </a:t>
            </a:r>
            <a:r>
              <a:rPr lang="en-US" sz="11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Punjab peaks in Rabi</a:t>
            </a: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at </a:t>
            </a:r>
            <a:r>
              <a:rPr lang="en-US" sz="11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8.45 t/ha</a:t>
            </a: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demonstrating that blanket seasonal recommendations fail in region-specific contexts.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5754"/>
            <a:ext cx="1588651" cy="208062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3626" y="516830"/>
            <a:ext cx="2033933" cy="125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PROFITABILITY DYNAMICS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29159"/>
            <a:ext cx="10868745" cy="427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Profitability &amp; Cost Dynamics</a:t>
            </a:r>
            <a:endParaRPr lang="en-US" sz="2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54745"/>
            <a:ext cx="5827368" cy="399940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1475" y="5581749"/>
            <a:ext cx="5827368" cy="672902"/>
          </a:xfrm>
          <a:prstGeom prst="roundRect">
            <a:avLst>
              <a:gd name="adj" fmla="val 3053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393" y="5755580"/>
            <a:ext cx="171148" cy="13692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06460" y="5717977"/>
            <a:ext cx="5245465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All three seasons record negative average profit margins — indicating a systemic cost pressure independent of seasonal performance.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9353" y="1454745"/>
            <a:ext cx="4707117" cy="14402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61519" y="1610717"/>
            <a:ext cx="4318983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Profitability Paradox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061519" y="1938139"/>
            <a:ext cx="4318983" cy="800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Kharif and Rabi post </a:t>
            </a:r>
            <a:r>
              <a:rPr lang="en-US" sz="10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positive total profits</a:t>
            </a: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despite negative average margins. High-yield farms within each season offset losses in the low-yield subset — the distribution is skewed, not uniform.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29353" y="3008412"/>
            <a:ext cx="4707117" cy="124003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061519" y="3164384"/>
            <a:ext cx="4318983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Zaid's Compound Crisis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7061519" y="3491805"/>
            <a:ext cx="4318983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Negative margins compounded by the lowest yield (</a:t>
            </a:r>
            <a:r>
              <a:rPr lang="en-US" sz="10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4.64 t/ha</a:t>
            </a: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) result in consistent net losses across the board. There is no high-yield cohort large enough to offset the drag.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29353" y="4361855"/>
            <a:ext cx="4707117" cy="124003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61519" y="4517827"/>
            <a:ext cx="4318983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The 5.2% Anomaly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7061519" y="4845248"/>
            <a:ext cx="4318983" cy="600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209 farms</a:t>
            </a: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achieve top-quartile yield but still post losses. Root cause is a cost structure issue — not yield potential. Input costs, pricing, or operational inefficiencies are at fault.</a:t>
            </a:r>
            <a:endParaRPr lang="en-US" sz="1050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19" name="Slide Zoom 18">
                <a:extLst>
                  <a:ext uri="{FF2B5EF4-FFF2-40B4-BE49-F238E27FC236}">
                    <a16:creationId xmlns:a16="http://schemas.microsoft.com/office/drawing/2014/main" id="{B7E5B2C1-8D75-912B-FE70-248C1A4B7BF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87753026"/>
                  </p:ext>
                </p:extLst>
              </p:nvPr>
            </p:nvGraphicFramePr>
            <p:xfrm>
              <a:off x="-3413760" y="3643630"/>
              <a:ext cx="3048000" cy="1714500"/>
            </p:xfrm>
            <a:graphic>
              <a:graphicData uri="http://schemas.microsoft.com/office/powerpoint/2016/slidezoom">
                <pslz:sldZm>
                  <pslz:sldZmObj sldId="262" cId="0">
                    <pslz:zmPr id="{66726C7A-6FC0-41F6-9AA6-914E1FEDD690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19" name="Slide Zoom 18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B7E5B2C1-8D75-912B-FE70-248C1A4B7BF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3413760" y="364363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82402"/>
            <a:ext cx="947515" cy="211832"/>
          </a:xfrm>
          <a:prstGeom prst="roundRect">
            <a:avLst>
              <a:gd name="adj" fmla="val 7905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5114" y="524173"/>
            <a:ext cx="1389821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KEY INSIGHTS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41263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Insights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61475" y="1353939"/>
            <a:ext cx="1147833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Five findings from the dataset that challenge conventional seasonal planning assumptions: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1475" y="1692275"/>
            <a:ext cx="313920" cy="31392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713811" y="1718419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3066" y="1740198"/>
            <a:ext cx="1043715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Profitability is Cost-Driven, Not Yield-Driven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3066" y="2028825"/>
            <a:ext cx="10437155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Seasons differ significantly in profit (p&lt;0.00001) but not in yield (p=0.28). Water efficiency (r=0.91) and cost structure are the true operational levers — not rainfall or temperature.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1475" y="2676029"/>
            <a:ext cx="313920" cy="31392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713811" y="2702173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3066" y="2723952"/>
            <a:ext cx="1043715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Irrigation is Misaligned With Seasonal Rainfall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93066" y="3012579"/>
            <a:ext cx="10437155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Zaid over-irrigates at </a:t>
            </a:r>
            <a:r>
              <a:rPr lang="en-US" sz="10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6,420 m³/ha</a:t>
            </a: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despite the lowest rainfall (</a:t>
            </a:r>
            <a:r>
              <a:rPr lang="en-US" sz="10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299mm</a:t>
            </a: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) and highest temperatures (</a:t>
            </a:r>
            <a:r>
              <a:rPr lang="en-US" sz="10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31°C</a:t>
            </a: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). This mismatch is the single most correctable inefficiency in the dataset.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1475" y="3659783"/>
            <a:ext cx="313920" cy="31392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713811" y="3685927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3066" y="3707705"/>
            <a:ext cx="1043715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Crop Selection Trumps Season Timing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93066" y="3996333"/>
            <a:ext cx="10437155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High-value cash crops (Sugarcane, Chilli, Cotton) remain profitable year-round. Staple grains (Wheat, Rice, Maize) lose money in every season — worst in Zaid. Season is secondary to crop choice.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1475" y="4643537"/>
            <a:ext cx="313920" cy="31392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713811" y="4669681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3066" y="4691459"/>
            <a:ext cx="1043715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One-Size-Fits-All Seasonal Calendars Fail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93066" y="4980087"/>
            <a:ext cx="10437155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Punjab's Rabi peak at </a:t>
            </a:r>
            <a:r>
              <a:rPr lang="en-US" sz="10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8.45 t/ha</a:t>
            </a: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outperforming its own Kharif — proves that regional agroclimatic variation makes blanket national recommendations suboptimal and potentially harmful.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1475" y="5627291"/>
            <a:ext cx="313920" cy="313928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713811" y="5653435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3066" y="5675213"/>
            <a:ext cx="1043715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High-Yield Farms Can Still Lose Money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93066" y="5963841"/>
            <a:ext cx="10437155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209 farms (5.2%)</a:t>
            </a: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achieve top-quartile yield but post net losses. This anomaly points to pricing failures, input cost overruns, or hidden operational inefficiencies that yield metrics alone cannot detect.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63550"/>
            <a:ext cx="1125112" cy="180578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1C97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2712" y="499170"/>
            <a:ext cx="1592223" cy="10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RECOMMENDATIONS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678259"/>
            <a:ext cx="10868745" cy="371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Recommendations for Seasonal Planning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61475" y="1177727"/>
            <a:ext cx="11478330" cy="163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Five evidence-based interventions ranked by systemic impact, derived directly from dataset findings: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37184"/>
            <a:ext cx="10868745" cy="82688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701" y="1739205"/>
            <a:ext cx="178292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5044" y="1568748"/>
            <a:ext cx="1016361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Optimize Water Efficiency in Zaid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235044" y="1805682"/>
            <a:ext cx="10163615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Reduce over-irrigation from the current </a:t>
            </a:r>
            <a:r>
              <a:rPr lang="en-US" sz="9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6,420 m³/ha</a:t>
            </a: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benchmark. Shift to deficit irrigation, soil-moisture-triggered scheduling, or drought-tolerant crop varieties. Water efficiency at r=0.91 with yield makes this the highest-leverage intervention.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49500"/>
            <a:ext cx="10868745" cy="82688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701" y="2651522"/>
            <a:ext cx="178292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235044" y="2481064"/>
            <a:ext cx="1016361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Rebalance Zaid Crop Mix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1235044" y="2717998"/>
            <a:ext cx="10163615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Prioritize high-value cash crops (Sugarcane: ₹92,000 Zaid profit; Chilli: ₹45,000) over loss-making staples (Maize: −₹58,000; Rice: −₹52,000). Crop substitution alone can reverse Zaid's average net loss of −₹23,235.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261816"/>
            <a:ext cx="10868745" cy="82688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2701" y="3563838"/>
            <a:ext cx="178292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35044" y="3393380"/>
            <a:ext cx="1016361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Build Region-Specific Seasonal Calendars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1235044" y="3630315"/>
            <a:ext cx="10163615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Conduct state-level audits — Punjab's Rabi advantage (</a:t>
            </a:r>
            <a:r>
              <a:rPr lang="en-US" sz="9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8.45 t/ha</a:t>
            </a: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) is suppressed by national Kharif-first policies. Tailor planting windows, crop recommendations, and resource allocation by agroclimatic zone.</a:t>
            </a:r>
            <a:endParaRPr lang="en-US" sz="9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174133"/>
            <a:ext cx="10868745" cy="82688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2701" y="4476155"/>
            <a:ext cx="178292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235044" y="4305697"/>
            <a:ext cx="1016361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Audit Cost Structure of High-Yield / Negative-Profit Farms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1235044" y="4542631"/>
            <a:ext cx="10163615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Investigate the </a:t>
            </a:r>
            <a:r>
              <a:rPr lang="en-US" sz="9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209 farms (5.2%)</a:t>
            </a: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achieving top-quartile yield while posting losses. Identify whether the gap is driven by input procurement pricing, post-harvest losses, credit costs, or market access failures — then design targeted interventions.</a:t>
            </a:r>
            <a:endParaRPr lang="en-US" sz="9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086449"/>
            <a:ext cx="10868745" cy="82688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22701" y="5388471"/>
            <a:ext cx="178292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235044" y="5218013"/>
            <a:ext cx="1016361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Align Irrigation Method With Seasonal Water Availability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1235044" y="5454948"/>
            <a:ext cx="10163615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Match drip, sprinkler, or flood irrigation method to season-specific rainfall and crop water demand profiles. Kharif's 852mm rainfall supports flood; Zaid's 299mm demands drip or subsurface methods. Method misalignment drives the water usage paradox.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661475" y="6009382"/>
            <a:ext cx="10868745" cy="385068"/>
          </a:xfrm>
          <a:prstGeom prst="roundRect">
            <a:avLst>
              <a:gd name="adj" fmla="val 4631"/>
            </a:avLst>
          </a:prstGeom>
          <a:solidFill>
            <a:srgbClr val="D4F7EC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336" y="6128345"/>
            <a:ext cx="148527" cy="11886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47724" y="6124476"/>
            <a:ext cx="10973220" cy="163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All recommendations are directly supported by statistically significant findings from the 4,000-record dataset. Priority sequencing reflects magnitude of estimated economic impact.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1533</Words>
  <Application>Microsoft Office PowerPoint</Application>
  <PresentationFormat>Widescreen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 Medium</vt:lpstr>
      <vt:lpstr>Arial</vt:lpstr>
      <vt:lpstr>Inter Bold</vt:lpstr>
      <vt:lpstr>DM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Atharva Deshpande</dc:creator>
  <cp:lastModifiedBy>Atharva Deshpande</cp:lastModifiedBy>
  <cp:revision>2</cp:revision>
  <dcterms:created xsi:type="dcterms:W3CDTF">2026-09-15T16:10:40Z</dcterms:created>
  <dcterms:modified xsi:type="dcterms:W3CDTF">2026-09-15T17:25:34Z</dcterms:modified>
</cp:coreProperties>
</file>